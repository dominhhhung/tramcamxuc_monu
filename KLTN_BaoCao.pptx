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2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0" r:id="rId9"/>
    <p:sldId id="262" r:id="rId10"/>
    <p:sldId id="263" r:id="rId11"/>
    <p:sldId id="276" r:id="rId12"/>
    <p:sldId id="277" r:id="rId13"/>
    <p:sldId id="278" r:id="rId14"/>
    <p:sldId id="279" r:id="rId15"/>
    <p:sldId id="280" r:id="rId16"/>
    <p:sldId id="281" r:id="rId17"/>
    <p:sldId id="264" r:id="rId18"/>
    <p:sldId id="266" r:id="rId19"/>
    <p:sldId id="268" r:id="rId20"/>
    <p:sldId id="269" r:id="rId21"/>
    <p:sldId id="265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embeddedFontLst>
    <p:embeddedFont>
      <p:font typeface="Bai Jamjuree" panose="00000500000000000000"/>
      <p:regular r:id="rId32"/>
    </p:embeddedFont>
    <p:embeddedFont>
      <p:font typeface="Play" panose="00000500000000000000"/>
      <p:regular r:id="rId33"/>
      <p:bold r:id="rId34"/>
    </p:embeddedFont>
    <p:embeddedFont>
      <p:font typeface="Bai Jamjuree Medium" panose="00000600000000000000"/>
      <p:regular r:id="rId35"/>
      <p:bold r:id="rId36"/>
      <p:italic r:id="rId37"/>
      <p:boldItalic r:id="rId38"/>
    </p:embeddedFont>
    <p:embeddedFont>
      <p:font typeface="Play" panose="00000500000000000000" charset="0"/>
      <p:regular r:id="rId39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font" Target="fonts/font9.fntdata"/><Relationship Id="rId4" Type="http://schemas.openxmlformats.org/officeDocument/2006/relationships/notesMaster" Target="notesMasters/notesMaster1.xml"/><Relationship Id="rId39" Type="http://schemas.openxmlformats.org/officeDocument/2006/relationships/font" Target="fonts/font8.fntdata"/><Relationship Id="rId38" Type="http://schemas.openxmlformats.org/officeDocument/2006/relationships/font" Target="fonts/font7.fntdata"/><Relationship Id="rId37" Type="http://schemas.openxmlformats.org/officeDocument/2006/relationships/font" Target="fonts/font6.fntdata"/><Relationship Id="rId36" Type="http://schemas.openxmlformats.org/officeDocument/2006/relationships/font" Target="fonts/font5.fntdata"/><Relationship Id="rId35" Type="http://schemas.openxmlformats.org/officeDocument/2006/relationships/font" Target="fonts/font4.fntdata"/><Relationship Id="rId34" Type="http://schemas.openxmlformats.org/officeDocument/2006/relationships/font" Target="fonts/font3.fntdata"/><Relationship Id="rId33" Type="http://schemas.openxmlformats.org/officeDocument/2006/relationships/font" Target="fonts/font2.fntdata"/><Relationship Id="rId32" Type="http://schemas.openxmlformats.org/officeDocument/2006/relationships/font" Target="fonts/font1.fntdata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/>
          </a:p>
        </p:txBody>
      </p:sp>
      <p:sp>
        <p:nvSpPr>
          <p:cNvPr id="98" name="Google Shape;98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2" name="Google Shape;122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6" name="Google Shape;136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3" name="Google Shape;193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9" name="Google Shape;199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5" name="Google Shape;225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1" name="Google Shape;231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5" name="Google Shape;205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7" name="Google Shape;237;p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4" name="Google Shape;244;p1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0" name="Google Shape;250;p1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6" name="Google Shape;256;p1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2" name="Google Shape;262;p1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8" name="Google Shape;268;p2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Bai Jamjuree" panose="000005000000000000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17" name="Google Shape;17;p22" descr="White text on a black background&#10;&#10;AI-generated content may be incorrect.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44136" y="333337"/>
            <a:ext cx="2253016" cy="642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3"/>
          <p:cNvSpPr txBox="1"/>
          <p:nvPr>
            <p:ph type="title"/>
          </p:nvPr>
        </p:nvSpPr>
        <p:spPr>
          <a:xfrm>
            <a:off x="831850" y="1215464"/>
            <a:ext cx="10515600" cy="261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5600"/>
              <a:buFont typeface="Bai Jamjuree" panose="000005000000000000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type="body" idx="1"/>
          </p:nvPr>
        </p:nvSpPr>
        <p:spPr>
          <a:xfrm>
            <a:off x="831850" y="3872764"/>
            <a:ext cx="10515600" cy="1769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2400"/>
              <a:buNone/>
              <a:defRPr sz="2400">
                <a:solidFill>
                  <a:srgbClr val="15389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1" name="Google Shape;21;p2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marL="0" lvl="1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marL="0" lvl="2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marL="0" lvl="3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marL="0" lvl="4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marL="0" lvl="5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marL="0" lvl="6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marL="0" lvl="7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marL="0" lvl="8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24" name="Google Shape;24;p23" descr="Blue text on a black background&#10;&#10;AI-generated content may be incorrect.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87927" y="214055"/>
            <a:ext cx="2295619" cy="654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2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 rot="10800000" flipH="1">
            <a:off x="7766095" y="614191"/>
            <a:ext cx="3587705" cy="243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1pPr>
            <a:lvl2pPr marL="0" lvl="1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2pPr>
            <a:lvl3pPr marL="0" lvl="2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3pPr>
            <a:lvl4pPr marL="0" lvl="3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4pPr>
            <a:lvl5pPr marL="0" lvl="4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5pPr>
            <a:lvl6pPr marL="0" lvl="5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6pPr>
            <a:lvl7pPr marL="0" lvl="6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7pPr>
            <a:lvl8pPr marL="0" lvl="7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8pPr>
            <a:lvl9pPr marL="0" lvl="8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5"/>
          <p:cNvSpPr txBox="1"/>
          <p:nvPr>
            <p:ph type="title"/>
          </p:nvPr>
        </p:nvSpPr>
        <p:spPr>
          <a:xfrm>
            <a:off x="838200" y="1047605"/>
            <a:ext cx="10515600" cy="64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3200"/>
              <a:buFont typeface="Bai Jamjuree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type="body" idx="1"/>
          </p:nvPr>
        </p:nvSpPr>
        <p:spPr>
          <a:xfrm>
            <a:off x="838200" y="1825625"/>
            <a:ext cx="10515600" cy="39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marL="0" lvl="1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marL="0" lvl="2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marL="0" lvl="3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marL="0" lvl="4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marL="0" lvl="5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marL="0" lvl="6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marL="0" lvl="7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marL="0" lvl="8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36" name="Google Shape;36;p2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 rot="10800000" flipH="1">
            <a:off x="7766095" y="614191"/>
            <a:ext cx="3587705" cy="243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5" descr="Blue text on a black background&#10;&#10;AI-generated content may be incorrect.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87927" y="214055"/>
            <a:ext cx="2295619" cy="654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/>
          <p:nvPr>
            <p:ph type="title"/>
          </p:nvPr>
        </p:nvSpPr>
        <p:spPr>
          <a:xfrm>
            <a:off x="839788" y="715818"/>
            <a:ext cx="10515600" cy="974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26"/>
          <p:cNvSpPr txBox="1"/>
          <p:nvPr>
            <p:ph type="body" idx="2"/>
          </p:nvPr>
        </p:nvSpPr>
        <p:spPr>
          <a:xfrm>
            <a:off x="839788" y="2505075"/>
            <a:ext cx="5157787" cy="3290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26"/>
          <p:cNvSpPr txBox="1"/>
          <p:nvPr>
            <p:ph type="body" idx="4"/>
          </p:nvPr>
        </p:nvSpPr>
        <p:spPr>
          <a:xfrm>
            <a:off x="6172200" y="2505075"/>
            <a:ext cx="5183188" cy="3290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marL="0" lvl="1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marL="0" lvl="2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marL="0" lvl="3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marL="0" lvl="4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marL="0" lvl="5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marL="0" lvl="6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marL="0" lvl="7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marL="0" lvl="8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47" name="Google Shape;47;p26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 rot="10800000" flipH="1">
            <a:off x="7766095" y="614191"/>
            <a:ext cx="3587705" cy="243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7"/>
          <p:cNvSpPr txBox="1"/>
          <p:nvPr>
            <p:ph type="title"/>
          </p:nvPr>
        </p:nvSpPr>
        <p:spPr>
          <a:xfrm>
            <a:off x="838200" y="7234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type="body" idx="1"/>
          </p:nvPr>
        </p:nvSpPr>
        <p:spPr>
          <a:xfrm>
            <a:off x="838200" y="2056695"/>
            <a:ext cx="5181600" cy="38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type="body" idx="2"/>
          </p:nvPr>
        </p:nvSpPr>
        <p:spPr>
          <a:xfrm>
            <a:off x="6172200" y="2056695"/>
            <a:ext cx="5181600" cy="38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marL="0" lvl="1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marL="0" lvl="2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marL="0" lvl="3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marL="0" lvl="4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marL="0" lvl="5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marL="0" lvl="6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marL="0" lvl="7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marL="0" lvl="8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55" name="Google Shape;55;p2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 rot="10800000" flipH="1">
            <a:off x="7766095" y="614191"/>
            <a:ext cx="3587705" cy="243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/>
          <p:nvPr>
            <p:ph type="title"/>
          </p:nvPr>
        </p:nvSpPr>
        <p:spPr>
          <a:xfrm>
            <a:off x="838200" y="827903"/>
            <a:ext cx="10515600" cy="862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type="dt" idx="10"/>
          </p:nvPr>
        </p:nvSpPr>
        <p:spPr>
          <a:xfrm>
            <a:off x="838200" y="656641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type="ftr" idx="11"/>
          </p:nvPr>
        </p:nvSpPr>
        <p:spPr>
          <a:xfrm>
            <a:off x="4038600" y="656641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type="sldNum" idx="12"/>
          </p:nvPr>
        </p:nvSpPr>
        <p:spPr>
          <a:xfrm>
            <a:off x="8610600" y="656641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marL="0" lvl="1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marL="0" lvl="2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marL="0" lvl="3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marL="0" lvl="4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marL="0" lvl="5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marL="0" lvl="6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marL="0" lvl="7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marL="0" lvl="8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61" name="Google Shape;61;p28" descr="White text on a black background&#10;&#10;AI-generated content may be incorrect.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10255" y="135018"/>
            <a:ext cx="1827489" cy="520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3200"/>
              <a:buFont typeface="Bai Jamjuree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29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2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1pPr>
            <a:lvl2pPr marL="0" lvl="1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2pPr>
            <a:lvl3pPr marL="0" lvl="2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3pPr>
            <a:lvl4pPr marL="0" lvl="3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4pPr>
            <a:lvl5pPr marL="0" lvl="4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5pPr>
            <a:lvl6pPr marL="0" lvl="5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6pPr>
            <a:lvl7pPr marL="0" lvl="6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7pPr>
            <a:lvl8pPr marL="0" lvl="7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8pPr>
            <a:lvl9pPr marL="0" lvl="8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69" name="Google Shape;69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 rot="10800000" flipH="1">
            <a:off x="7766095" y="614191"/>
            <a:ext cx="3587705" cy="243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0"/>
          <p:cNvSpPr txBox="1"/>
          <p:nvPr>
            <p:ph type="title"/>
          </p:nvPr>
        </p:nvSpPr>
        <p:spPr>
          <a:xfrm>
            <a:off x="838200" y="1823227"/>
            <a:ext cx="514247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Bai Jamjuree" panose="000005000000000000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marL="0" lvl="1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marL="0" lvl="2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marL="0" lvl="3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marL="0" lvl="4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marL="0" lvl="5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marL="0" lvl="6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marL="0" lvl="7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marL="0" lvl="8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75" name="Google Shape;75;p30" descr="White text on a black background&#10;&#10;AI-generated content may be incorrect.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44136" y="333337"/>
            <a:ext cx="3301388" cy="940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3200"/>
              <a:buFont typeface="Bai Jamjuree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31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0" name="Google Shape;80;p3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1pPr>
            <a:lvl2pPr marL="0" lvl="1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2pPr>
            <a:lvl3pPr marL="0" lvl="2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3pPr>
            <a:lvl4pPr marL="0" lvl="3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4pPr>
            <a:lvl5pPr marL="0" lvl="4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5pPr>
            <a:lvl6pPr marL="0" lvl="5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6pPr>
            <a:lvl7pPr marL="0" lvl="6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7pPr>
            <a:lvl8pPr marL="0" lvl="7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8pPr>
            <a:lvl9pPr marL="0" lvl="8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pic>
        <p:nvPicPr>
          <p:cNvPr id="83" name="Google Shape;83;p3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 rot="10800000" flipH="1">
            <a:off x="7766095" y="614191"/>
            <a:ext cx="3587705" cy="243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2"/>
          <p:cNvSpPr txBox="1"/>
          <p:nvPr>
            <p:ph type="body" idx="1"/>
          </p:nvPr>
        </p:nvSpPr>
        <p:spPr>
          <a:xfrm rot="5400000">
            <a:off x="4074083" y="-1410258"/>
            <a:ext cx="4043834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marL="0" lvl="1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marL="0" lvl="2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marL="0" lvl="3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marL="0" lvl="4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marL="0" lvl="5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marL="0" lvl="6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marL="0" lvl="7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marL="0" lvl="8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3"/>
          <p:cNvSpPr txBox="1"/>
          <p:nvPr>
            <p:ph type="title"/>
          </p:nvPr>
        </p:nvSpPr>
        <p:spPr>
          <a:xfrm rot="5400000">
            <a:off x="7299540" y="1790485"/>
            <a:ext cx="54796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3"/>
          <p:cNvSpPr txBox="1"/>
          <p:nvPr>
            <p:ph type="body" idx="1"/>
          </p:nvPr>
        </p:nvSpPr>
        <p:spPr>
          <a:xfrm rot="5400000">
            <a:off x="1965540" y="-762215"/>
            <a:ext cx="5479621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marL="0" lvl="1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marL="0" lvl="2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marL="0" lvl="3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marL="0" lvl="4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marL="0" lvl="5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6pPr>
            <a:lvl7pPr marL="0" lvl="6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7pPr>
            <a:lvl8pPr marL="0" lvl="7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8pPr>
            <a:lvl9pPr marL="0" lvl="8" indent="0" algn="r">
              <a:spcBef>
                <a:spcPts val="0"/>
              </a:spcBef>
              <a:buNone/>
              <a:defRPr sz="1200" b="0" i="0">
                <a:solidFill>
                  <a:schemeClr val="lt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8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 panose="00000500000000000000"/>
              <a:buNone/>
              <a:defRPr sz="4400" b="1" i="0" u="none" strike="noStrike" cap="none">
                <a:solidFill>
                  <a:srgbClr val="153898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rgbClr val="153898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rgbClr val="153898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rgbClr val="153898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rgbClr val="153898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3898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rgbClr val="153898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image" Target="../media/image11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1" Type="http://schemas.openxmlformats.org/officeDocument/2006/relationships/notesSlide" Target="../notesSlides/notesSlide5.xml"/><Relationship Id="rId40" Type="http://schemas.openxmlformats.org/officeDocument/2006/relationships/slideLayout" Target="../slideLayouts/slideLayout6.xml"/><Relationship Id="rId4" Type="http://schemas.openxmlformats.org/officeDocument/2006/relationships/tags" Target="../tags/tag4.xml"/><Relationship Id="rId39" Type="http://schemas.openxmlformats.org/officeDocument/2006/relationships/image" Target="../media/image19.png"/><Relationship Id="rId38" Type="http://schemas.openxmlformats.org/officeDocument/2006/relationships/image" Target="../media/image18.png"/><Relationship Id="rId37" Type="http://schemas.openxmlformats.org/officeDocument/2006/relationships/tags" Target="../tags/tag30.xml"/><Relationship Id="rId36" Type="http://schemas.openxmlformats.org/officeDocument/2006/relationships/image" Target="../media/image17.png"/><Relationship Id="rId35" Type="http://schemas.openxmlformats.org/officeDocument/2006/relationships/tags" Target="../tags/tag29.xml"/><Relationship Id="rId34" Type="http://schemas.openxmlformats.org/officeDocument/2006/relationships/image" Target="../media/image16.png"/><Relationship Id="rId33" Type="http://schemas.openxmlformats.org/officeDocument/2006/relationships/tags" Target="../tags/tag28.xml"/><Relationship Id="rId32" Type="http://schemas.openxmlformats.org/officeDocument/2006/relationships/image" Target="../media/image15.png"/><Relationship Id="rId31" Type="http://schemas.openxmlformats.org/officeDocument/2006/relationships/image" Target="../media/image14.png"/><Relationship Id="rId30" Type="http://schemas.openxmlformats.org/officeDocument/2006/relationships/tags" Target="../tags/tag27.xml"/><Relationship Id="rId3" Type="http://schemas.openxmlformats.org/officeDocument/2006/relationships/tags" Target="../tags/tag3.xml"/><Relationship Id="rId29" Type="http://schemas.openxmlformats.org/officeDocument/2006/relationships/tags" Target="../tags/tag26.xml"/><Relationship Id="rId28" Type="http://schemas.openxmlformats.org/officeDocument/2006/relationships/tags" Target="../tags/tag25.xml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image" Target="../media/image13.png"/><Relationship Id="rId23" Type="http://schemas.openxmlformats.org/officeDocument/2006/relationships/tags" Target="../tags/tag21.xml"/><Relationship Id="rId22" Type="http://schemas.openxmlformats.org/officeDocument/2006/relationships/image" Target="../media/image12.png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6" Type="http://schemas.openxmlformats.org/officeDocument/2006/relationships/notesSlide" Target="../notesSlides/notesSlide6.xml"/><Relationship Id="rId45" Type="http://schemas.openxmlformats.org/officeDocument/2006/relationships/slideLayout" Target="../slideLayouts/slideLayout5.xml"/><Relationship Id="rId44" Type="http://schemas.openxmlformats.org/officeDocument/2006/relationships/tags" Target="../tags/tag70.xml"/><Relationship Id="rId43" Type="http://schemas.openxmlformats.org/officeDocument/2006/relationships/tags" Target="../tags/tag69.xml"/><Relationship Id="rId42" Type="http://schemas.openxmlformats.org/officeDocument/2006/relationships/tags" Target="../tags/tag68.xml"/><Relationship Id="rId41" Type="http://schemas.openxmlformats.org/officeDocument/2006/relationships/tags" Target="../tags/tag67.xml"/><Relationship Id="rId40" Type="http://schemas.openxmlformats.org/officeDocument/2006/relationships/tags" Target="../tags/tag66.xml"/><Relationship Id="rId4" Type="http://schemas.openxmlformats.org/officeDocument/2006/relationships/tags" Target="../tags/tag32.xml"/><Relationship Id="rId39" Type="http://schemas.openxmlformats.org/officeDocument/2006/relationships/tags" Target="../tags/tag65.xml"/><Relationship Id="rId38" Type="http://schemas.openxmlformats.org/officeDocument/2006/relationships/tags" Target="../tags/tag64.xml"/><Relationship Id="rId37" Type="http://schemas.openxmlformats.org/officeDocument/2006/relationships/tags" Target="../tags/tag63.xml"/><Relationship Id="rId36" Type="http://schemas.openxmlformats.org/officeDocument/2006/relationships/tags" Target="../tags/tag62.xml"/><Relationship Id="rId35" Type="http://schemas.openxmlformats.org/officeDocument/2006/relationships/tags" Target="../tags/tag61.xml"/><Relationship Id="rId34" Type="http://schemas.openxmlformats.org/officeDocument/2006/relationships/tags" Target="../tags/tag60.xml"/><Relationship Id="rId33" Type="http://schemas.openxmlformats.org/officeDocument/2006/relationships/tags" Target="../tags/tag59.xml"/><Relationship Id="rId32" Type="http://schemas.openxmlformats.org/officeDocument/2006/relationships/tags" Target="../tags/tag58.xml"/><Relationship Id="rId31" Type="http://schemas.openxmlformats.org/officeDocument/2006/relationships/tags" Target="../tags/tag57.xml"/><Relationship Id="rId30" Type="http://schemas.openxmlformats.org/officeDocument/2006/relationships/tags" Target="../tags/tag56.xml"/><Relationship Id="rId3" Type="http://schemas.openxmlformats.org/officeDocument/2006/relationships/tags" Target="../tags/tag31.xml"/><Relationship Id="rId29" Type="http://schemas.openxmlformats.org/officeDocument/2006/relationships/tags" Target="../tags/tag55.xml"/><Relationship Id="rId28" Type="http://schemas.openxmlformats.org/officeDocument/2006/relationships/tags" Target="../tags/tag54.xml"/><Relationship Id="rId27" Type="http://schemas.openxmlformats.org/officeDocument/2006/relationships/tags" Target="../tags/tag53.xml"/><Relationship Id="rId26" Type="http://schemas.openxmlformats.org/officeDocument/2006/relationships/tags" Target="../tags/tag52.xml"/><Relationship Id="rId25" Type="http://schemas.openxmlformats.org/officeDocument/2006/relationships/tags" Target="../tags/tag51.xml"/><Relationship Id="rId24" Type="http://schemas.openxmlformats.org/officeDocument/2006/relationships/tags" Target="../tags/tag50.xml"/><Relationship Id="rId23" Type="http://schemas.openxmlformats.org/officeDocument/2006/relationships/tags" Target="../tags/tag49.xml"/><Relationship Id="rId22" Type="http://schemas.openxmlformats.org/officeDocument/2006/relationships/tags" Target="../tags/tag48.xml"/><Relationship Id="rId21" Type="http://schemas.openxmlformats.org/officeDocument/2006/relationships/tags" Target="../tags/tag47.xml"/><Relationship Id="rId20" Type="http://schemas.openxmlformats.org/officeDocument/2006/relationships/tags" Target="../tags/tag46.xml"/><Relationship Id="rId2" Type="http://schemas.openxmlformats.org/officeDocument/2006/relationships/image" Target="../media/image21.png"/><Relationship Id="rId19" Type="http://schemas.openxmlformats.org/officeDocument/2006/relationships/tags" Target="../tags/tag45.xml"/><Relationship Id="rId18" Type="http://schemas.openxmlformats.org/officeDocument/2006/relationships/tags" Target="../tags/tag44.xml"/><Relationship Id="rId17" Type="http://schemas.openxmlformats.org/officeDocument/2006/relationships/tags" Target="../tags/tag43.xml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/>
          <p:nvPr/>
        </p:nvSpPr>
        <p:spPr>
          <a:xfrm>
            <a:off x="1055087" y="1283315"/>
            <a:ext cx="10111356" cy="1382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800" b="1" i="0" u="none" strike="noStrike" cap="none">
                <a:solidFill>
                  <a:schemeClr val="lt1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rPr>
              <a:t>DEVELOPMENT OF A MOBILE MUSIC STREAMING APPLICATION WITH INTEGRATED RECOMMENDATION AND MUSIC SHARING</a:t>
            </a:r>
            <a:endParaRPr lang="en-US" altLang="en-GB" sz="2800" b="1" i="0" u="none" strike="noStrike" cap="none">
              <a:solidFill>
                <a:schemeClr val="lt1"/>
              </a:solidFill>
              <a:latin typeface="Bai Jamjuree" panose="00000500000000000000"/>
              <a:ea typeface="Bai Jamjuree" panose="00000500000000000000"/>
              <a:cs typeface="Bai Jamjuree" panose="00000500000000000000"/>
              <a:sym typeface="Bai Jamjuree" panose="00000500000000000000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1323340" y="4220845"/>
            <a:ext cx="9545320" cy="1813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Supervisor:	ThS Nguyen Thi Hong Luong</a:t>
            </a:r>
            <a:endParaRPr lang="en-US" sz="2800" b="1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Students:		Do Minh Hung</a:t>
            </a:r>
            <a:endParaRPr lang="en-US" sz="28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			Tran Huu Phuc</a:t>
            </a:r>
            <a:endParaRPr sz="2800" b="1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4033463" y="6181496"/>
            <a:ext cx="3820278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Ho Chi Minh, May 2026</a:t>
            </a:r>
            <a:endParaRPr sz="1800" b="1" i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7707609" y="251485"/>
            <a:ext cx="448439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rPr>
              <a:t>Faculty of Information Technology</a:t>
            </a:r>
            <a:endParaRPr sz="2000" b="1">
              <a:solidFill>
                <a:schemeClr val="lt1"/>
              </a:solidFill>
              <a:latin typeface="Bai Jamjuree Medium" panose="00000600000000000000"/>
              <a:ea typeface="Bai Jamjuree Medium" panose="00000600000000000000"/>
              <a:cs typeface="Bai Jamjuree Medium" panose="00000600000000000000"/>
              <a:sym typeface="Bai Jamjuree Medium" panose="00000600000000000000"/>
            </a:endParaRPr>
          </a:p>
        </p:txBody>
      </p:sp>
      <p:sp>
        <p:nvSpPr>
          <p:cNvPr id="3" name="Google Shape;103;p1"/>
          <p:cNvSpPr/>
          <p:nvPr/>
        </p:nvSpPr>
        <p:spPr>
          <a:xfrm>
            <a:off x="3500120" y="3068955"/>
            <a:ext cx="580898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rPr>
              <a:t>Application name: TramCamXuc</a:t>
            </a:r>
            <a:endParaRPr sz="2800" b="1">
              <a:solidFill>
                <a:schemeClr val="lt1"/>
              </a:solidFill>
              <a:latin typeface="Bai Jamjuree Medium" panose="00000600000000000000"/>
              <a:ea typeface="Bai Jamjuree Medium" panose="00000600000000000000"/>
              <a:cs typeface="Bai Jamjuree Medium" panose="00000600000000000000"/>
              <a:sym typeface="Bai Jamjuree Medium" panose="000006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4451985" y="975360"/>
            <a:ext cx="2679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000"/>
              <a:buFont typeface="Bai Jamjuree" panose="00000500000000000000"/>
              <a:buNone/>
            </a:pPr>
            <a:r>
              <a:rPr lang="en-US" sz="4000"/>
              <a:t>Contents</a:t>
            </a:r>
            <a:endParaRPr sz="4000"/>
          </a:p>
        </p:txBody>
      </p:sp>
      <p:sp>
        <p:nvSpPr>
          <p:cNvPr id="111" name="Google Shape;111;p2"/>
          <p:cNvSpPr txBox="1"/>
          <p:nvPr>
            <p:ph type="body" idx="1"/>
          </p:nvPr>
        </p:nvSpPr>
        <p:spPr>
          <a:xfrm>
            <a:off x="4451802" y="2660230"/>
            <a:ext cx="4401912" cy="52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2800"/>
              <a:buNone/>
            </a:pPr>
            <a:r>
              <a:rPr lang="en-US" sz="2800"/>
              <a:t>Analysis &amp; Design</a:t>
            </a:r>
            <a:endParaRPr sz="2800"/>
          </a:p>
        </p:txBody>
      </p:sp>
      <p:sp>
        <p:nvSpPr>
          <p:cNvPr id="112" name="Google Shape;112;p2"/>
          <p:cNvSpPr txBox="1"/>
          <p:nvPr/>
        </p:nvSpPr>
        <p:spPr>
          <a:xfrm>
            <a:off x="4451802" y="1893766"/>
            <a:ext cx="4561568" cy="52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2800"/>
              <a:buFont typeface="Arial" panose="020B0604020202020204"/>
              <a:buNone/>
            </a:pPr>
            <a:r>
              <a:rPr lang="en-US" sz="2800" b="0" i="0">
                <a:solidFill>
                  <a:srgbClr val="153898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Project Introduction</a:t>
            </a:r>
            <a:endParaRPr sz="2800" b="0" i="0">
              <a:solidFill>
                <a:srgbClr val="153898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4451985" y="3485515"/>
            <a:ext cx="5534660" cy="525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2800"/>
              <a:buFont typeface="Arial" panose="020B0604020202020204"/>
              <a:buNone/>
            </a:pPr>
            <a:r>
              <a:rPr lang="en-US" sz="2800" b="0" i="0">
                <a:solidFill>
                  <a:srgbClr val="153898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Demo</a:t>
            </a:r>
            <a:endParaRPr sz="2800" b="0" i="0">
              <a:solidFill>
                <a:srgbClr val="153898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4452483" y="4259265"/>
            <a:ext cx="4735740" cy="99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2800"/>
              <a:buFont typeface="Arial" panose="020B0604020202020204"/>
              <a:buNone/>
            </a:pPr>
            <a:r>
              <a:rPr lang="en-US" sz="2800" b="0" i="0">
                <a:solidFill>
                  <a:srgbClr val="153898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Conclusion &amp; Future Development</a:t>
            </a:r>
            <a:endParaRPr sz="2800" b="0" i="0">
              <a:solidFill>
                <a:srgbClr val="153898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pic>
        <p:nvPicPr>
          <p:cNvPr id="115" name="Google Shape;115;p2" descr="Hình ảnh Người Thuyết Trình PNG , Người đàn ông, Bài Thuyết Trình, Doanh  Nhân PNG miễn phí tải tập tin PSDComment và Vector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353812" y="2096872"/>
            <a:ext cx="2218971" cy="221897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 txBox="1"/>
          <p:nvPr/>
        </p:nvSpPr>
        <p:spPr>
          <a:xfrm>
            <a:off x="3865790" y="1762842"/>
            <a:ext cx="678542" cy="685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000"/>
              <a:buFont typeface="Bai Jamjuree" panose="00000500000000000000"/>
              <a:buNone/>
            </a:pPr>
            <a:r>
              <a:rPr lang="en-US" sz="4000" b="1">
                <a:solidFill>
                  <a:srgbClr val="153898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rPr>
              <a:t>1.</a:t>
            </a:r>
            <a:endParaRPr sz="4000" b="1">
              <a:solidFill>
                <a:srgbClr val="153898"/>
              </a:solidFill>
              <a:latin typeface="Bai Jamjuree" panose="00000500000000000000"/>
              <a:ea typeface="Bai Jamjuree" panose="00000500000000000000"/>
              <a:cs typeface="Bai Jamjuree" panose="00000500000000000000"/>
              <a:sym typeface="Bai Jamjuree" panose="00000500000000000000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3865790" y="2550096"/>
            <a:ext cx="770616" cy="685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000"/>
              <a:buFont typeface="Bai Jamjuree" panose="00000500000000000000"/>
              <a:buNone/>
            </a:pPr>
            <a:r>
              <a:rPr lang="en-US" sz="4000" b="1">
                <a:solidFill>
                  <a:srgbClr val="153898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rPr>
              <a:t>2.</a:t>
            </a:r>
            <a:endParaRPr sz="4000" b="1">
              <a:solidFill>
                <a:srgbClr val="153898"/>
              </a:solidFill>
              <a:latin typeface="Bai Jamjuree" panose="00000500000000000000"/>
              <a:ea typeface="Bai Jamjuree" panose="00000500000000000000"/>
              <a:cs typeface="Bai Jamjuree" panose="00000500000000000000"/>
              <a:sym typeface="Bai Jamjuree" panose="00000500000000000000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865790" y="3367405"/>
            <a:ext cx="734330" cy="685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000"/>
              <a:buFont typeface="Bai Jamjuree" panose="00000500000000000000"/>
              <a:buNone/>
            </a:pPr>
            <a:r>
              <a:rPr lang="en-US" sz="4000" b="1">
                <a:solidFill>
                  <a:srgbClr val="153898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rPr>
              <a:t>3.</a:t>
            </a:r>
            <a:endParaRPr sz="4000" b="1">
              <a:solidFill>
                <a:srgbClr val="153898"/>
              </a:solidFill>
              <a:latin typeface="Bai Jamjuree" panose="00000500000000000000"/>
              <a:ea typeface="Bai Jamjuree" panose="00000500000000000000"/>
              <a:cs typeface="Bai Jamjuree" panose="00000500000000000000"/>
              <a:sym typeface="Bai Jamjuree" panose="00000500000000000000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3894818" y="4155001"/>
            <a:ext cx="712559" cy="643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000"/>
              <a:buFont typeface="Bai Jamjuree" panose="00000500000000000000"/>
              <a:buNone/>
            </a:pPr>
            <a:r>
              <a:rPr lang="en-US" sz="4000" b="1">
                <a:solidFill>
                  <a:srgbClr val="153898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rPr>
              <a:t>4.</a:t>
            </a:r>
            <a:endParaRPr sz="4000" b="1">
              <a:solidFill>
                <a:srgbClr val="153898"/>
              </a:solidFill>
              <a:latin typeface="Bai Jamjuree" panose="00000500000000000000"/>
              <a:ea typeface="Bai Jamjuree" panose="00000500000000000000"/>
              <a:cs typeface="Bai Jamjuree" panose="00000500000000000000"/>
              <a:sym typeface="Bai Jamjuree" panose="000005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/>
        </p:nvSpPr>
        <p:spPr>
          <a:xfrm>
            <a:off x="2477857" y="1298384"/>
            <a:ext cx="6216199" cy="3970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6600"/>
              <a:buFont typeface="Arial" panose="020B0604020202020204"/>
              <a:buNone/>
            </a:pPr>
            <a:r>
              <a:rPr lang="en-US" sz="6600" b="0" i="0">
                <a:solidFill>
                  <a:srgbClr val="153898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Project Introduction</a:t>
            </a:r>
            <a:endParaRPr sz="6600" b="0" i="0">
              <a:solidFill>
                <a:srgbClr val="153898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367845" y="1246939"/>
            <a:ext cx="3318783" cy="23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15000"/>
              <a:buFont typeface="Bai Jamjuree" panose="00000500000000000000"/>
              <a:buNone/>
            </a:pPr>
            <a:r>
              <a:rPr lang="en-US" sz="15000" b="1">
                <a:solidFill>
                  <a:srgbClr val="153898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rPr>
              <a:t>1.</a:t>
            </a:r>
            <a:endParaRPr sz="15000" b="1">
              <a:solidFill>
                <a:srgbClr val="153898"/>
              </a:solidFill>
              <a:latin typeface="Bai Jamjuree" panose="00000500000000000000"/>
              <a:ea typeface="Bai Jamjuree" panose="00000500000000000000"/>
              <a:cs typeface="Bai Jamjuree" panose="00000500000000000000"/>
              <a:sym typeface="Bai Jamjuree" panose="000005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type="title"/>
          </p:nvPr>
        </p:nvSpPr>
        <p:spPr>
          <a:xfrm>
            <a:off x="4400000" y="1062119"/>
            <a:ext cx="10515600" cy="64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000"/>
              <a:buFont typeface="Bai Jamjuree" panose="00000500000000000000"/>
              <a:buNone/>
            </a:pPr>
            <a:r>
              <a:rPr lang="en-US" sz="4000"/>
              <a:t>Reasons</a:t>
            </a:r>
            <a:endParaRPr sz="4000"/>
          </a:p>
        </p:txBody>
      </p:sp>
      <p:sp>
        <p:nvSpPr>
          <p:cNvPr id="131" name="Google Shape;131;p4"/>
          <p:cNvSpPr txBox="1"/>
          <p:nvPr>
            <p:ph type="body" idx="1"/>
          </p:nvPr>
        </p:nvSpPr>
        <p:spPr>
          <a:xfrm>
            <a:off x="4400000" y="2005381"/>
            <a:ext cx="7293429" cy="39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</a:pPr>
            <a:r>
              <a:rPr lang="en-US" altLang="en-GB" sz="1800">
                <a:sym typeface="+mn-ea"/>
              </a:rPr>
              <a:t>Most popular music applications mainly rely on trending charts or manual playlists, which do not fully reflect users’ individual preferences and offer limited community interaction.</a:t>
            </a:r>
            <a:endParaRPr lang="en-US"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</a:pPr>
            <a:r>
              <a:rPr lang="en-US" altLang="en-GB" sz="1800">
                <a:sym typeface="+mn-ea"/>
              </a:rPr>
              <a:t>Combining an intelligent recommendation system with a social-oriented music ecosystem</a:t>
            </a:r>
            <a:r>
              <a:rPr lang="en-US" sz="1800"/>
              <a:t>.</a:t>
            </a:r>
            <a:endParaRPr lang="en-US"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</a:pPr>
            <a:r>
              <a:rPr lang="en-US" altLang="en-GB" sz="1800">
                <a:sym typeface="+mn-ea"/>
              </a:rPr>
              <a:t>Utilizes user behavior data to provide personalized music suggestions while enabling users to connect through song sharing and artist following</a:t>
            </a:r>
            <a:r>
              <a:rPr lang="en-US" sz="1800"/>
              <a:t>.</a:t>
            </a:r>
            <a:endParaRPr lang="en-US"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</a:pPr>
            <a:r>
              <a:rPr lang="en-US" altLang="en-GB" sz="1800">
                <a:sym typeface="+mn-ea"/>
              </a:rPr>
              <a:t>Focuses on a scalable architecture and high performance to ensure a smooth user experience, improve user satisfaction, and set a foundation for next-generation music platforms</a:t>
            </a:r>
            <a:r>
              <a:rPr lang="en-US" sz="1800"/>
              <a:t>.</a:t>
            </a:r>
            <a:endParaRPr sz="1800"/>
          </a:p>
        </p:txBody>
      </p:sp>
      <p:pic>
        <p:nvPicPr>
          <p:cNvPr id="132" name="Google Shape;132;p4" descr="F:/fd36b97c566fd7318e7e9.jpgfd36b97c566fd7318e7e9"/>
          <p:cNvPicPr preferRelativeResize="0"/>
          <p:nvPr/>
        </p:nvPicPr>
        <p:blipFill rotWithShape="1">
          <a:blip r:embed="rId1"/>
          <a:srcRect t="28530" b="28530"/>
          <a:stretch>
            <a:fillRect/>
          </a:stretch>
        </p:blipFill>
        <p:spPr>
          <a:xfrm>
            <a:off x="479491" y="2061334"/>
            <a:ext cx="3120234" cy="2900949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  <p:sp>
        <p:nvSpPr>
          <p:cNvPr id="133" name="Google Shape;133;p4"/>
          <p:cNvSpPr/>
          <p:nvPr/>
        </p:nvSpPr>
        <p:spPr>
          <a:xfrm>
            <a:off x="191770" y="1355725"/>
            <a:ext cx="3623945" cy="705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153898"/>
                </a:solidFill>
                <a:latin typeface="Bai Jamjuree Medium" panose="00000600000000000000"/>
                <a:ea typeface="Bai Jamjuree Medium" panose="00000600000000000000"/>
                <a:cs typeface="Bai Jamjuree Medium" panose="00000600000000000000"/>
                <a:sym typeface="Bai Jamjuree Medium" panose="00000600000000000000"/>
              </a:rPr>
              <a:t>TramCamXuc</a:t>
            </a:r>
            <a:endParaRPr sz="4000">
              <a:solidFill>
                <a:srgbClr val="15389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6"/>
          <p:cNvGrpSpPr/>
          <p:nvPr>
            <p:custDataLst>
              <p:tags r:id="rId1"/>
            </p:custDataLst>
          </p:nvPr>
        </p:nvGrpSpPr>
        <p:grpSpPr>
          <a:xfrm>
            <a:off x="685800" y="1066165"/>
            <a:ext cx="2331085" cy="1993900"/>
            <a:chOff x="715100" y="1600325"/>
            <a:chExt cx="2418900" cy="1412700"/>
          </a:xfrm>
        </p:grpSpPr>
        <p:sp>
          <p:nvSpPr>
            <p:cNvPr id="150" name="Google Shape;150;p6"/>
            <p:cNvSpPr/>
            <p:nvPr>
              <p:custDataLst>
                <p:tags r:id="rId2"/>
              </p:custDataLst>
            </p:nvPr>
          </p:nvSpPr>
          <p:spPr>
            <a:xfrm>
              <a:off x="806600" y="16918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51" name="Google Shape;151;p6"/>
            <p:cNvGrpSpPr/>
            <p:nvPr/>
          </p:nvGrpSpPr>
          <p:grpSpPr>
            <a:xfrm>
              <a:off x="715100" y="1600325"/>
              <a:ext cx="2327400" cy="1321200"/>
              <a:chOff x="715100" y="1600325"/>
              <a:chExt cx="2327400" cy="1321200"/>
            </a:xfrm>
          </p:grpSpPr>
          <p:sp>
            <p:nvSpPr>
              <p:cNvPr id="152" name="Google Shape;152;p6"/>
              <p:cNvSpPr/>
              <p:nvPr>
                <p:custDataLst>
                  <p:tags r:id="rId3"/>
                </p:custDataLst>
              </p:nvPr>
            </p:nvSpPr>
            <p:spPr>
              <a:xfrm>
                <a:off x="715100" y="1600325"/>
                <a:ext cx="23274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/>
                  <a:buNone/>
                </a:pPr>
                <a:endParaRPr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cxnSp>
            <p:nvCxnSpPr>
              <p:cNvPr id="153" name="Google Shape;153;p6"/>
              <p:cNvCxnSpPr/>
              <p:nvPr>
                <p:custDataLst>
                  <p:tags r:id="rId4"/>
                </p:custDataLst>
              </p:nvPr>
            </p:nvCxnSpPr>
            <p:spPr>
              <a:xfrm>
                <a:off x="722125" y="1783325"/>
                <a:ext cx="2315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154" name="Google Shape;154;p6"/>
          <p:cNvSpPr txBox="1"/>
          <p:nvPr>
            <p:custDataLst>
              <p:tags r:id="rId5"/>
            </p:custDataLst>
          </p:nvPr>
        </p:nvSpPr>
        <p:spPr>
          <a:xfrm>
            <a:off x="882650" y="1395095"/>
            <a:ext cx="1854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2800"/>
              <a:buFont typeface="Arial" panose="020B0604020202020204"/>
              <a:buNone/>
            </a:pPr>
            <a:r>
              <a:rPr lang="en-US" sz="2800" b="0" i="0">
                <a:solidFill>
                  <a:srgbClr val="153898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Back-end</a:t>
            </a:r>
            <a:endParaRPr sz="2800" b="0" i="0">
              <a:solidFill>
                <a:srgbClr val="153898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1911884" y="143901"/>
            <a:ext cx="7713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 panose="00000500000000000000"/>
              <a:buNone/>
            </a:pPr>
            <a:r>
              <a:rPr lang="en-US" sz="4400" b="1">
                <a:solidFill>
                  <a:srgbClr val="153898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rPr>
              <a:t>Technology</a:t>
            </a:r>
            <a:endParaRPr sz="4400" b="1">
              <a:solidFill>
                <a:srgbClr val="153898"/>
              </a:solidFill>
              <a:latin typeface="Bai Jamjuree" panose="00000500000000000000"/>
              <a:ea typeface="Bai Jamjuree" panose="00000500000000000000"/>
              <a:cs typeface="Bai Jamjuree" panose="00000500000000000000"/>
              <a:sym typeface="Bai Jamjuree" panose="00000500000000000000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8939820" y="244051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8707480" y="95399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683280" y="415151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59" name="Google Shape;159;p6" descr="C:/Users/domin/Downloads/spring.pngspring"/>
          <p:cNvPicPr preferRelativeResize="0"/>
          <p:nvPr>
            <p:custDataLst>
              <p:tags r:id="rId6"/>
            </p:custDataLst>
          </p:nvPr>
        </p:nvPicPr>
        <p:blipFill rotWithShape="1">
          <a:blip r:embed="rId7"/>
          <a:srcRect t="1449" b="-2159"/>
          <a:stretch>
            <a:fillRect/>
          </a:stretch>
        </p:blipFill>
        <p:spPr>
          <a:xfrm>
            <a:off x="748030" y="1965960"/>
            <a:ext cx="1049655" cy="968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" name="Google Shape;160;p6"/>
          <p:cNvGrpSpPr/>
          <p:nvPr>
            <p:custDataLst>
              <p:tags r:id="rId8"/>
            </p:custDataLst>
          </p:nvPr>
        </p:nvGrpSpPr>
        <p:grpSpPr>
          <a:xfrm>
            <a:off x="3378200" y="1066165"/>
            <a:ext cx="2313305" cy="1993900"/>
            <a:chOff x="715100" y="1600325"/>
            <a:chExt cx="2418900" cy="1412700"/>
          </a:xfrm>
        </p:grpSpPr>
        <p:sp>
          <p:nvSpPr>
            <p:cNvPr id="161" name="Google Shape;161;p6"/>
            <p:cNvSpPr/>
            <p:nvPr>
              <p:custDataLst>
                <p:tags r:id="rId9"/>
              </p:custDataLst>
            </p:nvPr>
          </p:nvSpPr>
          <p:spPr>
            <a:xfrm>
              <a:off x="806600" y="16918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62" name="Google Shape;162;p6"/>
            <p:cNvGrpSpPr/>
            <p:nvPr/>
          </p:nvGrpSpPr>
          <p:grpSpPr>
            <a:xfrm>
              <a:off x="715100" y="1600325"/>
              <a:ext cx="2327400" cy="1321200"/>
              <a:chOff x="715100" y="1600325"/>
              <a:chExt cx="2327400" cy="1321200"/>
            </a:xfrm>
          </p:grpSpPr>
          <p:sp>
            <p:nvSpPr>
              <p:cNvPr id="163" name="Google Shape;163;p6"/>
              <p:cNvSpPr/>
              <p:nvPr>
                <p:custDataLst>
                  <p:tags r:id="rId10"/>
                </p:custDataLst>
              </p:nvPr>
            </p:nvSpPr>
            <p:spPr>
              <a:xfrm>
                <a:off x="715100" y="1600325"/>
                <a:ext cx="23274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/>
                  <a:buNone/>
                </a:pPr>
                <a:endParaRPr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cxnSp>
            <p:nvCxnSpPr>
              <p:cNvPr id="164" name="Google Shape;164;p6"/>
              <p:cNvCxnSpPr/>
              <p:nvPr>
                <p:custDataLst>
                  <p:tags r:id="rId11"/>
                </p:custDataLst>
              </p:nvPr>
            </p:nvCxnSpPr>
            <p:spPr>
              <a:xfrm>
                <a:off x="722125" y="1783325"/>
                <a:ext cx="2315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165" name="Google Shape;165;p6"/>
          <p:cNvSpPr txBox="1"/>
          <p:nvPr>
            <p:custDataLst>
              <p:tags r:id="rId12"/>
            </p:custDataLst>
          </p:nvPr>
        </p:nvSpPr>
        <p:spPr>
          <a:xfrm>
            <a:off x="3596005" y="1392555"/>
            <a:ext cx="183959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2800"/>
              <a:buFont typeface="Arial" panose="020B0604020202020204"/>
              <a:buNone/>
            </a:pPr>
            <a:r>
              <a:rPr lang="en-US" sz="2800" b="0" i="0">
                <a:solidFill>
                  <a:srgbClr val="153898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Front-end</a:t>
            </a:r>
            <a:endParaRPr sz="2800" b="0" i="0">
              <a:solidFill>
                <a:srgbClr val="153898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grpSp>
        <p:nvGrpSpPr>
          <p:cNvPr id="166" name="Google Shape;166;p6"/>
          <p:cNvGrpSpPr/>
          <p:nvPr>
            <p:custDataLst>
              <p:tags r:id="rId13"/>
            </p:custDataLst>
          </p:nvPr>
        </p:nvGrpSpPr>
        <p:grpSpPr>
          <a:xfrm>
            <a:off x="6068695" y="1066165"/>
            <a:ext cx="2357755" cy="1993900"/>
            <a:chOff x="715100" y="1600325"/>
            <a:chExt cx="2418900" cy="1412700"/>
          </a:xfrm>
        </p:grpSpPr>
        <p:sp>
          <p:nvSpPr>
            <p:cNvPr id="167" name="Google Shape;167;p6"/>
            <p:cNvSpPr/>
            <p:nvPr>
              <p:custDataLst>
                <p:tags r:id="rId14"/>
              </p:custDataLst>
            </p:nvPr>
          </p:nvSpPr>
          <p:spPr>
            <a:xfrm>
              <a:off x="806600" y="16918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168" name="Google Shape;168;p6"/>
            <p:cNvGrpSpPr/>
            <p:nvPr/>
          </p:nvGrpSpPr>
          <p:grpSpPr>
            <a:xfrm>
              <a:off x="715100" y="1600325"/>
              <a:ext cx="2327400" cy="1321200"/>
              <a:chOff x="715100" y="1600325"/>
              <a:chExt cx="2327400" cy="1321200"/>
            </a:xfrm>
          </p:grpSpPr>
          <p:sp>
            <p:nvSpPr>
              <p:cNvPr id="169" name="Google Shape;169;p6"/>
              <p:cNvSpPr/>
              <p:nvPr>
                <p:custDataLst>
                  <p:tags r:id="rId15"/>
                </p:custDataLst>
              </p:nvPr>
            </p:nvSpPr>
            <p:spPr>
              <a:xfrm>
                <a:off x="715100" y="1600325"/>
                <a:ext cx="23274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/>
                  <a:buNone/>
                </a:pPr>
                <a:endParaRPr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cxnSp>
            <p:nvCxnSpPr>
              <p:cNvPr id="170" name="Google Shape;170;p6"/>
              <p:cNvCxnSpPr/>
              <p:nvPr>
                <p:custDataLst>
                  <p:tags r:id="rId16"/>
                </p:custDataLst>
              </p:nvPr>
            </p:nvCxnSpPr>
            <p:spPr>
              <a:xfrm>
                <a:off x="722125" y="1783325"/>
                <a:ext cx="2315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171" name="Google Shape;171;p6"/>
          <p:cNvSpPr txBox="1"/>
          <p:nvPr>
            <p:custDataLst>
              <p:tags r:id="rId17"/>
            </p:custDataLst>
          </p:nvPr>
        </p:nvSpPr>
        <p:spPr>
          <a:xfrm>
            <a:off x="6264910" y="1395095"/>
            <a:ext cx="187515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2800"/>
              <a:buFont typeface="Arial" panose="020B0604020202020204"/>
              <a:buNone/>
            </a:pPr>
            <a:r>
              <a:rPr lang="en-US" sz="2800" b="0" i="0">
                <a:solidFill>
                  <a:srgbClr val="153898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Database</a:t>
            </a:r>
            <a:endParaRPr sz="2800" b="0" i="0">
              <a:solidFill>
                <a:srgbClr val="153898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grpSp>
        <p:nvGrpSpPr>
          <p:cNvPr id="174" name="Google Shape;174;p6"/>
          <p:cNvGrpSpPr/>
          <p:nvPr>
            <p:custDataLst>
              <p:tags r:id="rId18"/>
            </p:custDataLst>
          </p:nvPr>
        </p:nvGrpSpPr>
        <p:grpSpPr>
          <a:xfrm rot="0">
            <a:off x="410210" y="3752850"/>
            <a:ext cx="11406505" cy="1864995"/>
            <a:chOff x="715100" y="1600325"/>
            <a:chExt cx="2327400" cy="1321200"/>
          </a:xfrm>
        </p:grpSpPr>
        <p:sp>
          <p:nvSpPr>
            <p:cNvPr id="175" name="Google Shape;175;p6"/>
            <p:cNvSpPr/>
            <p:nvPr>
              <p:custDataLst>
                <p:tags r:id="rId19"/>
              </p:custDataLst>
            </p:nvPr>
          </p:nvSpPr>
          <p:spPr>
            <a:xfrm>
              <a:off x="715100" y="16003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cxnSp>
          <p:nvCxnSpPr>
            <p:cNvPr id="176" name="Google Shape;176;p6"/>
            <p:cNvCxnSpPr/>
            <p:nvPr>
              <p:custDataLst>
                <p:tags r:id="rId20"/>
              </p:custDataLst>
            </p:nvPr>
          </p:nvCxnSpPr>
          <p:spPr>
            <a:xfrm>
              <a:off x="722125" y="1783325"/>
              <a:ext cx="2315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77" name="Google Shape;177;p6"/>
          <p:cNvSpPr txBox="1"/>
          <p:nvPr/>
        </p:nvSpPr>
        <p:spPr>
          <a:xfrm>
            <a:off x="890427" y="3752822"/>
            <a:ext cx="2194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2800"/>
              <a:buFont typeface="Arial" panose="020B0604020202020204"/>
              <a:buNone/>
            </a:pPr>
            <a:endParaRPr sz="2800" b="0" i="0">
              <a:solidFill>
                <a:srgbClr val="153898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pic>
        <p:nvPicPr>
          <p:cNvPr id="178" name="Google Shape;178;p6"/>
          <p:cNvPicPr preferRelativeResize="0"/>
          <p:nvPr>
            <p:custDataLst>
              <p:tags r:id="rId21"/>
            </p:custDataLst>
          </p:nvPr>
        </p:nvPicPr>
        <p:blipFill rotWithShape="1">
          <a:blip r:embed="rId22"/>
          <a:srcRect/>
          <a:stretch>
            <a:fillRect/>
          </a:stretch>
        </p:blipFill>
        <p:spPr>
          <a:xfrm>
            <a:off x="4498975" y="1926590"/>
            <a:ext cx="109982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78;p6" descr="C:/Users/domin/Downloads/download.pngdownload"/>
          <p:cNvPicPr preferRelativeResize="0"/>
          <p:nvPr>
            <p:custDataLst>
              <p:tags r:id="rId23"/>
            </p:custDataLst>
          </p:nvPr>
        </p:nvPicPr>
        <p:blipFill rotWithShape="1">
          <a:blip r:embed="rId24"/>
          <a:srcRect l="16405" r="16405"/>
          <a:stretch>
            <a:fillRect/>
          </a:stretch>
        </p:blipFill>
        <p:spPr>
          <a:xfrm>
            <a:off x="3387090" y="1946910"/>
            <a:ext cx="1092200" cy="97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66;p6"/>
          <p:cNvGrpSpPr/>
          <p:nvPr>
            <p:custDataLst>
              <p:tags r:id="rId25"/>
            </p:custDataLst>
          </p:nvPr>
        </p:nvGrpSpPr>
        <p:grpSpPr>
          <a:xfrm>
            <a:off x="8760460" y="1069340"/>
            <a:ext cx="2357755" cy="1993900"/>
            <a:chOff x="715100" y="1600325"/>
            <a:chExt cx="2418900" cy="1412700"/>
          </a:xfrm>
        </p:grpSpPr>
        <p:sp>
          <p:nvSpPr>
            <p:cNvPr id="3" name="Google Shape;167;p6"/>
            <p:cNvSpPr/>
            <p:nvPr>
              <p:custDataLst>
                <p:tags r:id="rId26"/>
              </p:custDataLst>
            </p:nvPr>
          </p:nvSpPr>
          <p:spPr>
            <a:xfrm>
              <a:off x="806600" y="1691825"/>
              <a:ext cx="2327400" cy="13212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 panose="020B0604020202020204"/>
                <a:buNone/>
              </a:pPr>
              <a:endParaRPr sz="18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grpSp>
          <p:nvGrpSpPr>
            <p:cNvPr id="4" name="Google Shape;168;p6"/>
            <p:cNvGrpSpPr/>
            <p:nvPr/>
          </p:nvGrpSpPr>
          <p:grpSpPr>
            <a:xfrm>
              <a:off x="715100" y="1600325"/>
              <a:ext cx="2327400" cy="1321200"/>
              <a:chOff x="715100" y="1600325"/>
              <a:chExt cx="2327400" cy="1321200"/>
            </a:xfrm>
          </p:grpSpPr>
          <p:sp>
            <p:nvSpPr>
              <p:cNvPr id="5" name="Google Shape;169;p6"/>
              <p:cNvSpPr/>
              <p:nvPr>
                <p:custDataLst>
                  <p:tags r:id="rId27"/>
                </p:custDataLst>
              </p:nvPr>
            </p:nvSpPr>
            <p:spPr>
              <a:xfrm>
                <a:off x="715100" y="1600325"/>
                <a:ext cx="2327400" cy="13212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 panose="020B0604020202020204"/>
                  <a:buNone/>
                </a:pPr>
                <a:endParaRPr sz="1800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cxnSp>
            <p:nvCxnSpPr>
              <p:cNvPr id="6" name="Google Shape;170;p6"/>
              <p:cNvCxnSpPr/>
              <p:nvPr>
                <p:custDataLst>
                  <p:tags r:id="rId28"/>
                </p:custDataLst>
              </p:nvPr>
            </p:nvCxnSpPr>
            <p:spPr>
              <a:xfrm>
                <a:off x="722125" y="1783325"/>
                <a:ext cx="2315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sp>
        <p:nvSpPr>
          <p:cNvPr id="7" name="Google Shape;171;p6"/>
          <p:cNvSpPr txBox="1"/>
          <p:nvPr>
            <p:custDataLst>
              <p:tags r:id="rId29"/>
            </p:custDataLst>
          </p:nvPr>
        </p:nvSpPr>
        <p:spPr>
          <a:xfrm>
            <a:off x="8956675" y="1398270"/>
            <a:ext cx="187515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2800"/>
              <a:buFont typeface="Arial" panose="020B0604020202020204"/>
              <a:buNone/>
            </a:pPr>
            <a:r>
              <a:rPr lang="en-US" sz="2800" b="0" i="0">
                <a:solidFill>
                  <a:srgbClr val="153898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Storage</a:t>
            </a:r>
            <a:endParaRPr sz="2800" b="0" i="0">
              <a:solidFill>
                <a:srgbClr val="153898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pic>
        <p:nvPicPr>
          <p:cNvPr id="8" name="Google Shape;179;p6" descr="C:/Users/domin/Downloads/download (2).pngdownload (2)"/>
          <p:cNvPicPr preferRelativeResize="0"/>
          <p:nvPr>
            <p:custDataLst>
              <p:tags r:id="rId30"/>
            </p:custDataLst>
          </p:nvPr>
        </p:nvPicPr>
        <p:blipFill rotWithShape="1">
          <a:blip r:embed="rId31"/>
          <a:srcRect l="7415" r="7415"/>
          <a:stretch>
            <a:fillRect/>
          </a:stretch>
        </p:blipFill>
        <p:spPr>
          <a:xfrm>
            <a:off x="8832215" y="1844675"/>
            <a:ext cx="1160145" cy="967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45135" y="4220845"/>
            <a:ext cx="11312525" cy="1047750"/>
          </a:xfrm>
          <a:prstGeom prst="rect">
            <a:avLst/>
          </a:prstGeom>
        </p:spPr>
      </p:pic>
      <p:pic>
        <p:nvPicPr>
          <p:cNvPr id="26" name="Google Shape;159;p6" descr="C:/Users/domin/Downloads/fasstapi.pngfasstapi"/>
          <p:cNvPicPr preferRelativeResize="0"/>
          <p:nvPr>
            <p:custDataLst>
              <p:tags r:id="rId33"/>
            </p:custDataLst>
          </p:nvPr>
        </p:nvPicPr>
        <p:blipFill rotWithShape="1">
          <a:blip r:embed="rId34"/>
          <a:srcRect l="393" r="393"/>
          <a:stretch>
            <a:fillRect/>
          </a:stretch>
        </p:blipFill>
        <p:spPr>
          <a:xfrm>
            <a:off x="1885950" y="1936750"/>
            <a:ext cx="1020445" cy="96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59;p6" descr="C:/Users/domin/Downloads/download (1).pngdownload (1)"/>
          <p:cNvPicPr preferRelativeResize="0"/>
          <p:nvPr>
            <p:custDataLst>
              <p:tags r:id="rId35"/>
            </p:custDataLst>
          </p:nvPr>
        </p:nvPicPr>
        <p:blipFill rotWithShape="1">
          <a:blip r:embed="rId36"/>
          <a:srcRect t="8439" b="8439"/>
          <a:stretch>
            <a:fillRect/>
          </a:stretch>
        </p:blipFill>
        <p:spPr>
          <a:xfrm>
            <a:off x="6140450" y="1875155"/>
            <a:ext cx="1049655" cy="96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159;p6" descr="C:/Users/domin/Downloads/download (9).pngdownload (9)"/>
          <p:cNvPicPr preferRelativeResize="0"/>
          <p:nvPr>
            <p:custDataLst>
              <p:tags r:id="rId37"/>
            </p:custDataLst>
          </p:nvPr>
        </p:nvPicPr>
        <p:blipFill rotWithShape="1">
          <a:blip r:embed="rId38"/>
          <a:srcRect t="2582" b="2582"/>
          <a:stretch>
            <a:fillRect/>
          </a:stretch>
        </p:blipFill>
        <p:spPr>
          <a:xfrm>
            <a:off x="7237730" y="1845945"/>
            <a:ext cx="1020445" cy="96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183;p6"/>
          <p:cNvPicPr preferRelativeResize="0"/>
          <p:nvPr/>
        </p:nvPicPr>
        <p:blipFill rotWithShape="1">
          <a:blip r:embed="rId39"/>
          <a:srcRect/>
          <a:stretch>
            <a:fillRect/>
          </a:stretch>
        </p:blipFill>
        <p:spPr>
          <a:xfrm>
            <a:off x="9897110" y="1856105"/>
            <a:ext cx="1067435" cy="86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>
            <p:ph type="title"/>
          </p:nvPr>
        </p:nvSpPr>
        <p:spPr>
          <a:xfrm>
            <a:off x="767217" y="152857"/>
            <a:ext cx="10515600" cy="974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 panose="00000500000000000000"/>
              <a:buNone/>
            </a:pPr>
            <a:r>
              <a:rPr lang="en-US"/>
              <a:t>Key Features</a:t>
            </a:r>
            <a:endParaRPr lang="en-US"/>
          </a:p>
        </p:txBody>
      </p:sp>
      <p:sp>
        <p:nvSpPr>
          <p:cNvPr id="6" name="Freeform 2"/>
          <p:cNvSpPr/>
          <p:nvPr/>
        </p:nvSpPr>
        <p:spPr>
          <a:xfrm>
            <a:off x="-53340" y="908685"/>
            <a:ext cx="12191365" cy="4925695"/>
          </a:xfrm>
          <a:custGeom>
            <a:avLst/>
            <a:gdLst/>
            <a:ahLst/>
            <a:cxnLst/>
            <a:rect l="l" t="t" r="r" b="b"/>
            <a:pathLst>
              <a:path w="8953500" h="7505700">
                <a:moveTo>
                  <a:pt x="0" y="0"/>
                </a:moveTo>
                <a:lnTo>
                  <a:pt x="8953500" y="0"/>
                </a:lnTo>
                <a:lnTo>
                  <a:pt x="8953500" y="7505700"/>
                </a:lnTo>
                <a:lnTo>
                  <a:pt x="0" y="75057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6617" t="-19002" r="-11607" b="-3363"/>
            </a:stretch>
          </a:blipFill>
        </p:spPr>
      </p:sp>
      <p:grpSp>
        <p:nvGrpSpPr>
          <p:cNvPr id="7" name="Group 37"/>
          <p:cNvGrpSpPr/>
          <p:nvPr/>
        </p:nvGrpSpPr>
        <p:grpSpPr>
          <a:xfrm rot="0">
            <a:off x="263525" y="1052830"/>
            <a:ext cx="3184525" cy="5067935"/>
            <a:chOff x="0" y="0"/>
            <a:chExt cx="4245726" cy="7168857"/>
          </a:xfrm>
        </p:grpSpPr>
        <p:sp>
          <p:nvSpPr>
            <p:cNvPr id="8" name="Freeform 38"/>
            <p:cNvSpPr/>
            <p:nvPr/>
          </p:nvSpPr>
          <p:spPr>
            <a:xfrm rot="5400000">
              <a:off x="1845957" y="4769088"/>
              <a:ext cx="553812" cy="4245726"/>
            </a:xfrm>
            <a:custGeom>
              <a:avLst/>
              <a:gdLst/>
              <a:ahLst/>
              <a:cxnLst/>
              <a:rect l="l" t="t" r="r" b="b"/>
              <a:pathLst>
                <a:path w="553812" h="4245726">
                  <a:moveTo>
                    <a:pt x="0" y="0"/>
                  </a:moveTo>
                  <a:lnTo>
                    <a:pt x="553812" y="0"/>
                  </a:lnTo>
                  <a:lnTo>
                    <a:pt x="553812" y="4245726"/>
                  </a:lnTo>
                  <a:lnTo>
                    <a:pt x="0" y="4245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7000"/>
              </a:stretch>
            </a:blipFill>
          </p:spPr>
        </p:sp>
        <p:grpSp>
          <p:nvGrpSpPr>
            <p:cNvPr id="9" name="Group 39"/>
            <p:cNvGrpSpPr/>
            <p:nvPr/>
          </p:nvGrpSpPr>
          <p:grpSpPr>
            <a:xfrm rot="0">
              <a:off x="0" y="0"/>
              <a:ext cx="4245726" cy="6782830"/>
              <a:chOff x="0" y="0"/>
              <a:chExt cx="2623069" cy="4190527"/>
            </a:xfrm>
          </p:grpSpPr>
          <p:sp>
            <p:nvSpPr>
              <p:cNvPr id="10" name="Freeform 40"/>
              <p:cNvSpPr/>
              <p:nvPr/>
            </p:nvSpPr>
            <p:spPr>
              <a:xfrm>
                <a:off x="0" y="0"/>
                <a:ext cx="2623070" cy="4190528"/>
              </a:xfrm>
              <a:custGeom>
                <a:avLst/>
                <a:gdLst/>
                <a:ahLst/>
                <a:cxnLst/>
                <a:rect l="l" t="t" r="r" b="b"/>
                <a:pathLst>
                  <a:path w="2623070" h="4190528">
                    <a:moveTo>
                      <a:pt x="2498609" y="4190528"/>
                    </a:moveTo>
                    <a:lnTo>
                      <a:pt x="124460" y="4190528"/>
                    </a:lnTo>
                    <a:cubicBezTo>
                      <a:pt x="55880" y="4190528"/>
                      <a:pt x="0" y="4134648"/>
                      <a:pt x="0" y="4066067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498610" y="0"/>
                    </a:lnTo>
                    <a:cubicBezTo>
                      <a:pt x="2567189" y="0"/>
                      <a:pt x="2623070" y="55880"/>
                      <a:pt x="2623070" y="124460"/>
                    </a:cubicBezTo>
                    <a:lnTo>
                      <a:pt x="2623070" y="4066068"/>
                    </a:lnTo>
                    <a:cubicBezTo>
                      <a:pt x="2623070" y="4134648"/>
                      <a:pt x="2567189" y="4190528"/>
                      <a:pt x="2498610" y="419052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id="12" name="Group 42"/>
          <p:cNvGrpSpPr>
            <a:grpSpLocks noChangeAspect="1"/>
          </p:cNvGrpSpPr>
          <p:nvPr/>
        </p:nvGrpSpPr>
        <p:grpSpPr>
          <a:xfrm rot="0">
            <a:off x="2999659" y="1380876"/>
            <a:ext cx="208421" cy="182827"/>
            <a:chOff x="0" y="0"/>
            <a:chExt cx="6350000" cy="5570220"/>
          </a:xfrm>
        </p:grpSpPr>
        <p:sp>
          <p:nvSpPr>
            <p:cNvPr id="13" name="Freeform 43"/>
            <p:cNvSpPr/>
            <p:nvPr/>
          </p:nvSpPr>
          <p:spPr>
            <a:xfrm>
              <a:off x="0" y="0"/>
              <a:ext cx="6350000" cy="5570220"/>
            </a:xfrm>
            <a:custGeom>
              <a:avLst/>
              <a:gdLst/>
              <a:ahLst/>
              <a:cxnLst/>
              <a:rect l="l" t="t" r="r" b="b"/>
              <a:pathLst>
                <a:path w="6350000" h="5570220">
                  <a:moveTo>
                    <a:pt x="0" y="1643380"/>
                  </a:moveTo>
                  <a:cubicBezTo>
                    <a:pt x="0" y="3412490"/>
                    <a:pt x="3175000" y="5570220"/>
                    <a:pt x="3175000" y="5570220"/>
                  </a:cubicBezTo>
                  <a:cubicBezTo>
                    <a:pt x="3175000" y="5570220"/>
                    <a:pt x="6336030" y="3397250"/>
                    <a:pt x="6350000" y="1643380"/>
                  </a:cubicBezTo>
                  <a:cubicBezTo>
                    <a:pt x="6350000" y="737870"/>
                    <a:pt x="5612130" y="0"/>
                    <a:pt x="4706620" y="0"/>
                  </a:cubicBezTo>
                  <a:cubicBezTo>
                    <a:pt x="4010660" y="0"/>
                    <a:pt x="3411220" y="445770"/>
                    <a:pt x="3175000" y="1057910"/>
                  </a:cubicBezTo>
                  <a:cubicBezTo>
                    <a:pt x="2938780" y="445770"/>
                    <a:pt x="2339340" y="0"/>
                    <a:pt x="1643380" y="0"/>
                  </a:cubicBezTo>
                  <a:cubicBezTo>
                    <a:pt x="737870" y="0"/>
                    <a:pt x="0" y="737870"/>
                    <a:pt x="0" y="1643380"/>
                  </a:cubicBezTo>
                </a:path>
              </a:pathLst>
            </a:custGeom>
            <a:solidFill>
              <a:srgbClr val="EDECED"/>
            </a:solidFill>
          </p:spPr>
        </p:sp>
      </p:grpSp>
      <p:sp>
        <p:nvSpPr>
          <p:cNvPr id="14" name="TextBox 44"/>
          <p:cNvSpPr txBox="1"/>
          <p:nvPr/>
        </p:nvSpPr>
        <p:spPr>
          <a:xfrm>
            <a:off x="486273" y="1404813"/>
            <a:ext cx="1908201" cy="22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16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rPr>
              <a:t>Admin</a:t>
            </a:r>
            <a:endParaRPr lang="en-US" sz="1600" b="1">
              <a:solidFill>
                <a:srgbClr val="231F20"/>
              </a:solidFill>
              <a:latin typeface="Play" panose="00000500000000000000" charset="0"/>
              <a:ea typeface="Garet Bold"/>
              <a:cs typeface="Play" panose="00000500000000000000" charset="0"/>
              <a:sym typeface="Garet Bold"/>
            </a:endParaRPr>
          </a:p>
        </p:txBody>
      </p:sp>
      <p:grpSp>
        <p:nvGrpSpPr>
          <p:cNvPr id="15" name="Group 45"/>
          <p:cNvGrpSpPr/>
          <p:nvPr>
            <p:custDataLst>
              <p:tags r:id="rId3"/>
            </p:custDataLst>
          </p:nvPr>
        </p:nvGrpSpPr>
        <p:grpSpPr>
          <a:xfrm rot="0">
            <a:off x="548102" y="2036070"/>
            <a:ext cx="2499713" cy="227308"/>
            <a:chOff x="0" y="0"/>
            <a:chExt cx="3332951" cy="303078"/>
          </a:xfrm>
        </p:grpSpPr>
        <p:sp>
          <p:nvSpPr>
            <p:cNvPr id="17" name="TextBox 47"/>
            <p:cNvSpPr txBox="1"/>
            <p:nvPr>
              <p:custDataLst>
                <p:tags r:id="rId4"/>
              </p:custDataLst>
            </p:nvPr>
          </p:nvSpPr>
          <p:spPr>
            <a:xfrm>
              <a:off x="502730" y="0"/>
              <a:ext cx="2830221" cy="2438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User Management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18" name="Group 48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19" name="Freeform 49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20" name="Freeform 50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1" name="Group 51"/>
          <p:cNvGrpSpPr/>
          <p:nvPr>
            <p:custDataLst>
              <p:tags r:id="rId7"/>
            </p:custDataLst>
          </p:nvPr>
        </p:nvGrpSpPr>
        <p:grpSpPr>
          <a:xfrm rot="0">
            <a:off x="548102" y="2470060"/>
            <a:ext cx="2590552" cy="227308"/>
            <a:chOff x="0" y="0"/>
            <a:chExt cx="3454069" cy="303078"/>
          </a:xfrm>
        </p:grpSpPr>
        <p:sp>
          <p:nvSpPr>
            <p:cNvPr id="23" name="TextBox 53"/>
            <p:cNvSpPr txBox="1"/>
            <p:nvPr>
              <p:custDataLst>
                <p:tags r:id="rId8"/>
              </p:custDataLst>
            </p:nvPr>
          </p:nvSpPr>
          <p:spPr>
            <a:xfrm>
              <a:off x="502730" y="0"/>
              <a:ext cx="2951339" cy="2438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Music Content Management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24" name="Group 54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25" name="Freeform 55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26" name="Freeform 56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27" name="Group 57"/>
          <p:cNvGrpSpPr/>
          <p:nvPr>
            <p:custDataLst>
              <p:tags r:id="rId9"/>
            </p:custDataLst>
          </p:nvPr>
        </p:nvGrpSpPr>
        <p:grpSpPr>
          <a:xfrm rot="0">
            <a:off x="553817" y="4292796"/>
            <a:ext cx="2637237" cy="227308"/>
            <a:chOff x="0" y="0"/>
            <a:chExt cx="3516316" cy="303078"/>
          </a:xfrm>
        </p:grpSpPr>
        <p:sp>
          <p:nvSpPr>
            <p:cNvPr id="29" name="TextBox 59"/>
            <p:cNvSpPr txBox="1"/>
            <p:nvPr>
              <p:custDataLst>
                <p:tags r:id="rId10"/>
              </p:custDataLst>
            </p:nvPr>
          </p:nvSpPr>
          <p:spPr>
            <a:xfrm>
              <a:off x="502730" y="0"/>
              <a:ext cx="3013586" cy="2438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View Data Analysis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30" name="Group 60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31" name="Freeform 61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32" name="Freeform 62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3" name="Group 63"/>
          <p:cNvGrpSpPr/>
          <p:nvPr>
            <p:custDataLst>
              <p:tags r:id="rId11"/>
            </p:custDataLst>
          </p:nvPr>
        </p:nvGrpSpPr>
        <p:grpSpPr>
          <a:xfrm rot="0">
            <a:off x="548102" y="4806162"/>
            <a:ext cx="2499713" cy="227308"/>
            <a:chOff x="0" y="0"/>
            <a:chExt cx="3332951" cy="303078"/>
          </a:xfrm>
        </p:grpSpPr>
        <p:sp>
          <p:nvSpPr>
            <p:cNvPr id="35" name="TextBox 65"/>
            <p:cNvSpPr txBox="1"/>
            <p:nvPr>
              <p:custDataLst>
                <p:tags r:id="rId12"/>
              </p:custDataLst>
            </p:nvPr>
          </p:nvSpPr>
          <p:spPr>
            <a:xfrm>
              <a:off x="502730" y="0"/>
              <a:ext cx="2830221" cy="2438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Advertising Management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36" name="Group 66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71" name="Freeform 67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72" name="Freeform 68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73" name="Group 69"/>
          <p:cNvGrpSpPr/>
          <p:nvPr/>
        </p:nvGrpSpPr>
        <p:grpSpPr>
          <a:xfrm rot="0">
            <a:off x="263778" y="1793799"/>
            <a:ext cx="3184295" cy="78200"/>
            <a:chOff x="0" y="0"/>
            <a:chExt cx="23271433" cy="571500"/>
          </a:xfrm>
        </p:grpSpPr>
        <p:sp>
          <p:nvSpPr>
            <p:cNvPr id="74" name="Freeform 70"/>
            <p:cNvSpPr/>
            <p:nvPr/>
          </p:nvSpPr>
          <p:spPr>
            <a:xfrm>
              <a:off x="0" y="255270"/>
              <a:ext cx="23271432" cy="69850"/>
            </a:xfrm>
            <a:custGeom>
              <a:avLst/>
              <a:gdLst/>
              <a:ahLst/>
              <a:cxnLst/>
              <a:rect l="l" t="t" r="r" b="b"/>
              <a:pathLst>
                <a:path w="23271432" h="69850">
                  <a:moveTo>
                    <a:pt x="22980603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23271432" y="69850"/>
                  </a:lnTo>
                  <a:lnTo>
                    <a:pt x="23271432" y="0"/>
                  </a:lnTo>
                  <a:close/>
                </a:path>
              </a:pathLst>
            </a:custGeom>
            <a:solidFill>
              <a:srgbClr val="CBCBCB"/>
            </a:solidFill>
          </p:spPr>
        </p:sp>
      </p:grpSp>
      <p:grpSp>
        <p:nvGrpSpPr>
          <p:cNvPr id="80" name="Group 37"/>
          <p:cNvGrpSpPr/>
          <p:nvPr/>
        </p:nvGrpSpPr>
        <p:grpSpPr>
          <a:xfrm rot="0">
            <a:off x="4295775" y="1052830"/>
            <a:ext cx="3184525" cy="5067935"/>
            <a:chOff x="0" y="0"/>
            <a:chExt cx="4245726" cy="7168857"/>
          </a:xfrm>
        </p:grpSpPr>
        <p:sp>
          <p:nvSpPr>
            <p:cNvPr id="81" name="Freeform 38"/>
            <p:cNvSpPr/>
            <p:nvPr/>
          </p:nvSpPr>
          <p:spPr>
            <a:xfrm rot="5400000">
              <a:off x="1845957" y="4769088"/>
              <a:ext cx="553812" cy="4245726"/>
            </a:xfrm>
            <a:custGeom>
              <a:avLst/>
              <a:gdLst/>
              <a:ahLst/>
              <a:cxnLst/>
              <a:rect l="l" t="t" r="r" b="b"/>
              <a:pathLst>
                <a:path w="553812" h="4245726">
                  <a:moveTo>
                    <a:pt x="0" y="0"/>
                  </a:moveTo>
                  <a:lnTo>
                    <a:pt x="553812" y="0"/>
                  </a:lnTo>
                  <a:lnTo>
                    <a:pt x="553812" y="4245726"/>
                  </a:lnTo>
                  <a:lnTo>
                    <a:pt x="0" y="4245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7000"/>
              </a:stretch>
            </a:blipFill>
          </p:spPr>
        </p:sp>
        <p:grpSp>
          <p:nvGrpSpPr>
            <p:cNvPr id="82" name="Group 39"/>
            <p:cNvGrpSpPr/>
            <p:nvPr/>
          </p:nvGrpSpPr>
          <p:grpSpPr>
            <a:xfrm rot="0">
              <a:off x="0" y="0"/>
              <a:ext cx="4245726" cy="6782830"/>
              <a:chOff x="0" y="0"/>
              <a:chExt cx="2623069" cy="4190527"/>
            </a:xfrm>
          </p:grpSpPr>
          <p:sp>
            <p:nvSpPr>
              <p:cNvPr id="83" name="Freeform 40"/>
              <p:cNvSpPr/>
              <p:nvPr/>
            </p:nvSpPr>
            <p:spPr>
              <a:xfrm>
                <a:off x="0" y="0"/>
                <a:ext cx="2623070" cy="4190528"/>
              </a:xfrm>
              <a:custGeom>
                <a:avLst/>
                <a:gdLst/>
                <a:ahLst/>
                <a:cxnLst/>
                <a:rect l="l" t="t" r="r" b="b"/>
                <a:pathLst>
                  <a:path w="2623070" h="4190528">
                    <a:moveTo>
                      <a:pt x="2498609" y="4190528"/>
                    </a:moveTo>
                    <a:lnTo>
                      <a:pt x="124460" y="4190528"/>
                    </a:lnTo>
                    <a:cubicBezTo>
                      <a:pt x="55880" y="4190528"/>
                      <a:pt x="0" y="4134648"/>
                      <a:pt x="0" y="4066067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498610" y="0"/>
                    </a:lnTo>
                    <a:cubicBezTo>
                      <a:pt x="2567189" y="0"/>
                      <a:pt x="2623070" y="55880"/>
                      <a:pt x="2623070" y="124460"/>
                    </a:cubicBezTo>
                    <a:lnTo>
                      <a:pt x="2623070" y="4066068"/>
                    </a:lnTo>
                    <a:cubicBezTo>
                      <a:pt x="2623070" y="4134648"/>
                      <a:pt x="2567189" y="4190528"/>
                      <a:pt x="2498610" y="419052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id="85" name="Group 42"/>
          <p:cNvGrpSpPr>
            <a:grpSpLocks noChangeAspect="1"/>
          </p:cNvGrpSpPr>
          <p:nvPr/>
        </p:nvGrpSpPr>
        <p:grpSpPr>
          <a:xfrm rot="0">
            <a:off x="7073184" y="1380876"/>
            <a:ext cx="208421" cy="182827"/>
            <a:chOff x="0" y="0"/>
            <a:chExt cx="6350000" cy="5570220"/>
          </a:xfrm>
          <a:solidFill>
            <a:srgbClr val="FF0000"/>
          </a:solidFill>
        </p:grpSpPr>
        <p:sp>
          <p:nvSpPr>
            <p:cNvPr id="86" name="Freeform 43"/>
            <p:cNvSpPr/>
            <p:nvPr/>
          </p:nvSpPr>
          <p:spPr>
            <a:xfrm>
              <a:off x="0" y="0"/>
              <a:ext cx="6350000" cy="5570220"/>
            </a:xfrm>
            <a:custGeom>
              <a:avLst/>
              <a:gdLst/>
              <a:ahLst/>
              <a:cxnLst/>
              <a:rect l="l" t="t" r="r" b="b"/>
              <a:pathLst>
                <a:path w="6350000" h="5570220">
                  <a:moveTo>
                    <a:pt x="0" y="1643380"/>
                  </a:moveTo>
                  <a:cubicBezTo>
                    <a:pt x="0" y="3412490"/>
                    <a:pt x="3175000" y="5570220"/>
                    <a:pt x="3175000" y="5570220"/>
                  </a:cubicBezTo>
                  <a:cubicBezTo>
                    <a:pt x="3175000" y="5570220"/>
                    <a:pt x="6336030" y="3397250"/>
                    <a:pt x="6350000" y="1643380"/>
                  </a:cubicBezTo>
                  <a:cubicBezTo>
                    <a:pt x="6350000" y="737870"/>
                    <a:pt x="5612130" y="0"/>
                    <a:pt x="4706620" y="0"/>
                  </a:cubicBezTo>
                  <a:cubicBezTo>
                    <a:pt x="4010660" y="0"/>
                    <a:pt x="3411220" y="445770"/>
                    <a:pt x="3175000" y="1057910"/>
                  </a:cubicBezTo>
                  <a:cubicBezTo>
                    <a:pt x="2938780" y="445770"/>
                    <a:pt x="2339340" y="0"/>
                    <a:pt x="1643380" y="0"/>
                  </a:cubicBezTo>
                  <a:cubicBezTo>
                    <a:pt x="737870" y="0"/>
                    <a:pt x="0" y="737870"/>
                    <a:pt x="0" y="1643380"/>
                  </a:cubicBezTo>
                </a:path>
              </a:pathLst>
            </a:custGeom>
            <a:grpFill/>
          </p:spPr>
          <p:txBody>
            <a:bodyPr/>
            <a:p>
              <a:endParaRPr lang="en-GB" altLang="en-US"/>
            </a:p>
          </p:txBody>
        </p:sp>
      </p:grpSp>
      <p:sp>
        <p:nvSpPr>
          <p:cNvPr id="87" name="TextBox 44"/>
          <p:cNvSpPr txBox="1"/>
          <p:nvPr/>
        </p:nvSpPr>
        <p:spPr>
          <a:xfrm>
            <a:off x="4576943" y="1404813"/>
            <a:ext cx="1908201" cy="22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16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rPr>
              <a:t>User</a:t>
            </a:r>
            <a:endParaRPr lang="en-US" sz="1600" b="1">
              <a:solidFill>
                <a:srgbClr val="231F20"/>
              </a:solidFill>
              <a:latin typeface="Play" panose="00000500000000000000" charset="0"/>
              <a:ea typeface="Garet Bold"/>
              <a:cs typeface="Play" panose="00000500000000000000" charset="0"/>
              <a:sym typeface="Garet Bold"/>
            </a:endParaRPr>
          </a:p>
        </p:txBody>
      </p:sp>
      <p:grpSp>
        <p:nvGrpSpPr>
          <p:cNvPr id="88" name="Group 45"/>
          <p:cNvGrpSpPr/>
          <p:nvPr>
            <p:custDataLst>
              <p:tags r:id="rId13"/>
            </p:custDataLst>
          </p:nvPr>
        </p:nvGrpSpPr>
        <p:grpSpPr>
          <a:xfrm rot="0">
            <a:off x="4638772" y="2036070"/>
            <a:ext cx="2499713" cy="227308"/>
            <a:chOff x="0" y="0"/>
            <a:chExt cx="3332951" cy="303078"/>
          </a:xfrm>
        </p:grpSpPr>
        <p:sp>
          <p:nvSpPr>
            <p:cNvPr id="89" name="TextBox 47"/>
            <p:cNvSpPr txBox="1"/>
            <p:nvPr>
              <p:custDataLst>
                <p:tags r:id="rId14"/>
              </p:custDataLst>
            </p:nvPr>
          </p:nvSpPr>
          <p:spPr>
            <a:xfrm>
              <a:off x="502730" y="0"/>
              <a:ext cx="2830221" cy="243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Sign in &amp; Sign up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90" name="Group 48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91" name="Freeform 49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92" name="Freeform 50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3" name="Group 51"/>
          <p:cNvGrpSpPr/>
          <p:nvPr>
            <p:custDataLst>
              <p:tags r:id="rId15"/>
            </p:custDataLst>
          </p:nvPr>
        </p:nvGrpSpPr>
        <p:grpSpPr>
          <a:xfrm rot="0">
            <a:off x="4638772" y="2470060"/>
            <a:ext cx="2590552" cy="227308"/>
            <a:chOff x="0" y="0"/>
            <a:chExt cx="3454069" cy="303078"/>
          </a:xfrm>
        </p:grpSpPr>
        <p:sp>
          <p:nvSpPr>
            <p:cNvPr id="94" name="TextBox 53"/>
            <p:cNvSpPr txBox="1"/>
            <p:nvPr>
              <p:custDataLst>
                <p:tags r:id="rId16"/>
              </p:custDataLst>
            </p:nvPr>
          </p:nvSpPr>
          <p:spPr>
            <a:xfrm>
              <a:off x="502730" y="0"/>
              <a:ext cx="2951339" cy="2438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Search &amp; Discover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95" name="Group 54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96" name="Freeform 55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97" name="Freeform 56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8" name="Group 57"/>
          <p:cNvGrpSpPr/>
          <p:nvPr>
            <p:custDataLst>
              <p:tags r:id="rId17"/>
            </p:custDataLst>
          </p:nvPr>
        </p:nvGrpSpPr>
        <p:grpSpPr>
          <a:xfrm rot="0">
            <a:off x="4644487" y="2974536"/>
            <a:ext cx="2637237" cy="366395"/>
            <a:chOff x="0" y="0"/>
            <a:chExt cx="3516316" cy="488527"/>
          </a:xfrm>
        </p:grpSpPr>
        <p:sp>
          <p:nvSpPr>
            <p:cNvPr id="99" name="TextBox 59"/>
            <p:cNvSpPr txBox="1"/>
            <p:nvPr>
              <p:custDataLst>
                <p:tags r:id="rId18"/>
              </p:custDataLst>
            </p:nvPr>
          </p:nvSpPr>
          <p:spPr>
            <a:xfrm>
              <a:off x="502730" y="0"/>
              <a:ext cx="3013586" cy="48852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Streaming Music &amp;  </a:t>
              </a: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Get Recommendations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100" name="Group 60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101" name="Freeform 61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102" name="Freeform 62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3" name="Group 63"/>
          <p:cNvGrpSpPr/>
          <p:nvPr>
            <p:custDataLst>
              <p:tags r:id="rId19"/>
            </p:custDataLst>
          </p:nvPr>
        </p:nvGrpSpPr>
        <p:grpSpPr>
          <a:xfrm rot="0">
            <a:off x="4638772" y="3487902"/>
            <a:ext cx="2499713" cy="227308"/>
            <a:chOff x="0" y="0"/>
            <a:chExt cx="3332951" cy="303078"/>
          </a:xfrm>
        </p:grpSpPr>
        <p:sp>
          <p:nvSpPr>
            <p:cNvPr id="104" name="TextBox 65"/>
            <p:cNvSpPr txBox="1"/>
            <p:nvPr>
              <p:custDataLst>
                <p:tags r:id="rId20"/>
              </p:custDataLst>
            </p:nvPr>
          </p:nvSpPr>
          <p:spPr>
            <a:xfrm>
              <a:off x="502730" y="0"/>
              <a:ext cx="2830221" cy="243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Playlist Management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105" name="Group 66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106" name="Freeform 67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107" name="Freeform 68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08" name="Group 69"/>
          <p:cNvGrpSpPr/>
          <p:nvPr/>
        </p:nvGrpSpPr>
        <p:grpSpPr>
          <a:xfrm rot="0">
            <a:off x="4354448" y="1793799"/>
            <a:ext cx="3184295" cy="78200"/>
            <a:chOff x="0" y="0"/>
            <a:chExt cx="23271433" cy="571500"/>
          </a:xfrm>
        </p:grpSpPr>
        <p:sp>
          <p:nvSpPr>
            <p:cNvPr id="109" name="Freeform 70"/>
            <p:cNvSpPr/>
            <p:nvPr/>
          </p:nvSpPr>
          <p:spPr>
            <a:xfrm>
              <a:off x="0" y="255270"/>
              <a:ext cx="23271432" cy="69850"/>
            </a:xfrm>
            <a:custGeom>
              <a:avLst/>
              <a:gdLst/>
              <a:ahLst/>
              <a:cxnLst/>
              <a:rect l="l" t="t" r="r" b="b"/>
              <a:pathLst>
                <a:path w="23271432" h="69850">
                  <a:moveTo>
                    <a:pt x="22980603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23271432" y="69850"/>
                  </a:lnTo>
                  <a:lnTo>
                    <a:pt x="23271432" y="0"/>
                  </a:lnTo>
                  <a:close/>
                </a:path>
              </a:pathLst>
            </a:custGeom>
            <a:solidFill>
              <a:srgbClr val="CBCBCB"/>
            </a:solidFill>
          </p:spPr>
        </p:sp>
      </p:grpSp>
      <p:grpSp>
        <p:nvGrpSpPr>
          <p:cNvPr id="110" name="Group 63"/>
          <p:cNvGrpSpPr/>
          <p:nvPr>
            <p:custDataLst>
              <p:tags r:id="rId21"/>
            </p:custDataLst>
          </p:nvPr>
        </p:nvGrpSpPr>
        <p:grpSpPr>
          <a:xfrm rot="0">
            <a:off x="4647027" y="3882237"/>
            <a:ext cx="2499713" cy="227308"/>
            <a:chOff x="0" y="0"/>
            <a:chExt cx="3332951" cy="303078"/>
          </a:xfrm>
        </p:grpSpPr>
        <p:sp>
          <p:nvSpPr>
            <p:cNvPr id="111" name="TextBox 65"/>
            <p:cNvSpPr txBox="1"/>
            <p:nvPr>
              <p:custDataLst>
                <p:tags r:id="rId22"/>
              </p:custDataLst>
            </p:nvPr>
          </p:nvSpPr>
          <p:spPr>
            <a:xfrm>
              <a:off x="502730" y="0"/>
              <a:ext cx="2830221" cy="243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Social Media Interaction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112" name="Group 66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113" name="Freeform 67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114" name="Freeform 68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15" name="Group 37"/>
          <p:cNvGrpSpPr/>
          <p:nvPr/>
        </p:nvGrpSpPr>
        <p:grpSpPr>
          <a:xfrm rot="0">
            <a:off x="8458835" y="1124585"/>
            <a:ext cx="3184525" cy="4995545"/>
            <a:chOff x="0" y="0"/>
            <a:chExt cx="4245726" cy="7168857"/>
          </a:xfrm>
        </p:grpSpPr>
        <p:sp>
          <p:nvSpPr>
            <p:cNvPr id="116" name="Freeform 38"/>
            <p:cNvSpPr/>
            <p:nvPr/>
          </p:nvSpPr>
          <p:spPr>
            <a:xfrm rot="5400000">
              <a:off x="1845957" y="4769088"/>
              <a:ext cx="553812" cy="4245726"/>
            </a:xfrm>
            <a:custGeom>
              <a:avLst/>
              <a:gdLst/>
              <a:ahLst/>
              <a:cxnLst/>
              <a:rect l="l" t="t" r="r" b="b"/>
              <a:pathLst>
                <a:path w="553812" h="4245726">
                  <a:moveTo>
                    <a:pt x="0" y="0"/>
                  </a:moveTo>
                  <a:lnTo>
                    <a:pt x="553812" y="0"/>
                  </a:lnTo>
                  <a:lnTo>
                    <a:pt x="553812" y="4245726"/>
                  </a:lnTo>
                  <a:lnTo>
                    <a:pt x="0" y="4245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37000"/>
              </a:stretch>
            </a:blipFill>
          </p:spPr>
        </p:sp>
        <p:grpSp>
          <p:nvGrpSpPr>
            <p:cNvPr id="117" name="Group 39"/>
            <p:cNvGrpSpPr/>
            <p:nvPr/>
          </p:nvGrpSpPr>
          <p:grpSpPr>
            <a:xfrm rot="0">
              <a:off x="0" y="0"/>
              <a:ext cx="4245726" cy="6782830"/>
              <a:chOff x="0" y="0"/>
              <a:chExt cx="2623069" cy="4190527"/>
            </a:xfrm>
          </p:grpSpPr>
          <p:sp>
            <p:nvSpPr>
              <p:cNvPr id="118" name="Freeform 40"/>
              <p:cNvSpPr/>
              <p:nvPr/>
            </p:nvSpPr>
            <p:spPr>
              <a:xfrm>
                <a:off x="0" y="0"/>
                <a:ext cx="2623070" cy="4190528"/>
              </a:xfrm>
              <a:custGeom>
                <a:avLst/>
                <a:gdLst/>
                <a:ahLst/>
                <a:cxnLst/>
                <a:rect l="l" t="t" r="r" b="b"/>
                <a:pathLst>
                  <a:path w="2623070" h="4190528">
                    <a:moveTo>
                      <a:pt x="2498609" y="4190528"/>
                    </a:moveTo>
                    <a:lnTo>
                      <a:pt x="124460" y="4190528"/>
                    </a:lnTo>
                    <a:cubicBezTo>
                      <a:pt x="55880" y="4190528"/>
                      <a:pt x="0" y="4134648"/>
                      <a:pt x="0" y="4066067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2498610" y="0"/>
                    </a:lnTo>
                    <a:cubicBezTo>
                      <a:pt x="2567189" y="0"/>
                      <a:pt x="2623070" y="55880"/>
                      <a:pt x="2623070" y="124460"/>
                    </a:cubicBezTo>
                    <a:lnTo>
                      <a:pt x="2623070" y="4066068"/>
                    </a:lnTo>
                    <a:cubicBezTo>
                      <a:pt x="2623070" y="4134648"/>
                      <a:pt x="2567189" y="4190528"/>
                      <a:pt x="2498610" y="419052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grpSp>
        <p:nvGrpSpPr>
          <p:cNvPr id="120" name="Group 42"/>
          <p:cNvGrpSpPr>
            <a:grpSpLocks noChangeAspect="1"/>
          </p:cNvGrpSpPr>
          <p:nvPr/>
        </p:nvGrpSpPr>
        <p:grpSpPr>
          <a:xfrm rot="0">
            <a:off x="11177824" y="1446916"/>
            <a:ext cx="208421" cy="182827"/>
            <a:chOff x="0" y="0"/>
            <a:chExt cx="6350000" cy="5570220"/>
          </a:xfrm>
        </p:grpSpPr>
        <p:sp>
          <p:nvSpPr>
            <p:cNvPr id="121" name="Freeform 43"/>
            <p:cNvSpPr/>
            <p:nvPr/>
          </p:nvSpPr>
          <p:spPr>
            <a:xfrm>
              <a:off x="0" y="0"/>
              <a:ext cx="6350000" cy="5570220"/>
            </a:xfrm>
            <a:custGeom>
              <a:avLst/>
              <a:gdLst/>
              <a:ahLst/>
              <a:cxnLst/>
              <a:rect l="l" t="t" r="r" b="b"/>
              <a:pathLst>
                <a:path w="6350000" h="5570220">
                  <a:moveTo>
                    <a:pt x="0" y="1643380"/>
                  </a:moveTo>
                  <a:cubicBezTo>
                    <a:pt x="0" y="3412490"/>
                    <a:pt x="3175000" y="5570220"/>
                    <a:pt x="3175000" y="5570220"/>
                  </a:cubicBezTo>
                  <a:cubicBezTo>
                    <a:pt x="3175000" y="5570220"/>
                    <a:pt x="6336030" y="3397250"/>
                    <a:pt x="6350000" y="1643380"/>
                  </a:cubicBezTo>
                  <a:cubicBezTo>
                    <a:pt x="6350000" y="737870"/>
                    <a:pt x="5612130" y="0"/>
                    <a:pt x="4706620" y="0"/>
                  </a:cubicBezTo>
                  <a:cubicBezTo>
                    <a:pt x="4010660" y="0"/>
                    <a:pt x="3411220" y="445770"/>
                    <a:pt x="3175000" y="1057910"/>
                  </a:cubicBezTo>
                  <a:cubicBezTo>
                    <a:pt x="2938780" y="445770"/>
                    <a:pt x="2339340" y="0"/>
                    <a:pt x="1643380" y="0"/>
                  </a:cubicBezTo>
                  <a:cubicBezTo>
                    <a:pt x="737870" y="0"/>
                    <a:pt x="0" y="737870"/>
                    <a:pt x="0" y="1643380"/>
                  </a:cubicBezTo>
                </a:path>
              </a:pathLst>
            </a:custGeom>
            <a:solidFill>
              <a:srgbClr val="EDECED"/>
            </a:solidFill>
          </p:spPr>
        </p:sp>
      </p:grpSp>
      <p:sp>
        <p:nvSpPr>
          <p:cNvPr id="122" name="TextBox 44"/>
          <p:cNvSpPr txBox="1"/>
          <p:nvPr/>
        </p:nvSpPr>
        <p:spPr>
          <a:xfrm>
            <a:off x="8681583" y="1476568"/>
            <a:ext cx="1908201" cy="225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0"/>
              </a:lnSpc>
            </a:pPr>
            <a:r>
              <a:rPr lang="en-US" sz="16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rPr>
              <a:t>Artist</a:t>
            </a:r>
            <a:endParaRPr lang="en-US" sz="1600" b="1">
              <a:solidFill>
                <a:srgbClr val="231F20"/>
              </a:solidFill>
              <a:latin typeface="Play" panose="00000500000000000000" charset="0"/>
              <a:ea typeface="Garet Bold"/>
              <a:cs typeface="Play" panose="00000500000000000000" charset="0"/>
              <a:sym typeface="Garet Bold"/>
            </a:endParaRPr>
          </a:p>
        </p:txBody>
      </p:sp>
      <p:grpSp>
        <p:nvGrpSpPr>
          <p:cNvPr id="123" name="Group 45"/>
          <p:cNvGrpSpPr/>
          <p:nvPr>
            <p:custDataLst>
              <p:tags r:id="rId23"/>
            </p:custDataLst>
          </p:nvPr>
        </p:nvGrpSpPr>
        <p:grpSpPr>
          <a:xfrm rot="0">
            <a:off x="8743412" y="2107825"/>
            <a:ext cx="2499713" cy="227308"/>
            <a:chOff x="0" y="0"/>
            <a:chExt cx="3332951" cy="303078"/>
          </a:xfrm>
        </p:grpSpPr>
        <p:sp>
          <p:nvSpPr>
            <p:cNvPr id="124" name="TextBox 47"/>
            <p:cNvSpPr txBox="1"/>
            <p:nvPr>
              <p:custDataLst>
                <p:tags r:id="rId24"/>
              </p:custDataLst>
            </p:nvPr>
          </p:nvSpPr>
          <p:spPr>
            <a:xfrm>
              <a:off x="502730" y="0"/>
              <a:ext cx="2830221" cy="243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Songs Management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125" name="Group 48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126" name="Freeform 49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127" name="Freeform 50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28" name="Group 51"/>
          <p:cNvGrpSpPr/>
          <p:nvPr>
            <p:custDataLst>
              <p:tags r:id="rId25"/>
            </p:custDataLst>
          </p:nvPr>
        </p:nvGrpSpPr>
        <p:grpSpPr>
          <a:xfrm rot="0">
            <a:off x="8743412" y="2541815"/>
            <a:ext cx="2590552" cy="227308"/>
            <a:chOff x="0" y="0"/>
            <a:chExt cx="3454069" cy="303078"/>
          </a:xfrm>
        </p:grpSpPr>
        <p:sp>
          <p:nvSpPr>
            <p:cNvPr id="129" name="TextBox 53"/>
            <p:cNvSpPr txBox="1"/>
            <p:nvPr>
              <p:custDataLst>
                <p:tags r:id="rId26"/>
              </p:custDataLst>
            </p:nvPr>
          </p:nvSpPr>
          <p:spPr>
            <a:xfrm>
              <a:off x="502730" y="0"/>
              <a:ext cx="2951339" cy="2438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Album Management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130" name="Group 54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131" name="Freeform 55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132" name="Freeform 56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33" name="Group 57"/>
          <p:cNvGrpSpPr/>
          <p:nvPr>
            <p:custDataLst>
              <p:tags r:id="rId27"/>
            </p:custDataLst>
          </p:nvPr>
        </p:nvGrpSpPr>
        <p:grpSpPr>
          <a:xfrm rot="0">
            <a:off x="8749127" y="3046291"/>
            <a:ext cx="2637237" cy="227308"/>
            <a:chOff x="0" y="0"/>
            <a:chExt cx="3516316" cy="303078"/>
          </a:xfrm>
        </p:grpSpPr>
        <p:sp>
          <p:nvSpPr>
            <p:cNvPr id="134" name="TextBox 59"/>
            <p:cNvSpPr txBox="1"/>
            <p:nvPr>
              <p:custDataLst>
                <p:tags r:id="rId28"/>
              </p:custDataLst>
            </p:nvPr>
          </p:nvSpPr>
          <p:spPr>
            <a:xfrm>
              <a:off x="502730" y="0"/>
              <a:ext cx="3013586" cy="2438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Create Music with AI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135" name="Group 60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136" name="Freeform 61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144" name="Freeform 62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45" name="Group 63"/>
          <p:cNvGrpSpPr/>
          <p:nvPr>
            <p:custDataLst>
              <p:tags r:id="rId29"/>
            </p:custDataLst>
          </p:nvPr>
        </p:nvGrpSpPr>
        <p:grpSpPr>
          <a:xfrm rot="0">
            <a:off x="8743412" y="3559657"/>
            <a:ext cx="2499713" cy="227308"/>
            <a:chOff x="0" y="0"/>
            <a:chExt cx="3332951" cy="303078"/>
          </a:xfrm>
        </p:grpSpPr>
        <p:sp>
          <p:nvSpPr>
            <p:cNvPr id="146" name="TextBox 65"/>
            <p:cNvSpPr txBox="1"/>
            <p:nvPr>
              <p:custDataLst>
                <p:tags r:id="rId30"/>
              </p:custDataLst>
            </p:nvPr>
          </p:nvSpPr>
          <p:spPr>
            <a:xfrm>
              <a:off x="502730" y="0"/>
              <a:ext cx="2830221" cy="243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Profile Management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147" name="Group 66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148" name="Freeform 67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149" name="Freeform 68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50" name="Group 69"/>
          <p:cNvGrpSpPr/>
          <p:nvPr/>
        </p:nvGrpSpPr>
        <p:grpSpPr>
          <a:xfrm rot="0">
            <a:off x="8459088" y="1865554"/>
            <a:ext cx="3184295" cy="78200"/>
            <a:chOff x="0" y="0"/>
            <a:chExt cx="23271433" cy="571500"/>
          </a:xfrm>
        </p:grpSpPr>
        <p:sp>
          <p:nvSpPr>
            <p:cNvPr id="151" name="Freeform 70"/>
            <p:cNvSpPr/>
            <p:nvPr/>
          </p:nvSpPr>
          <p:spPr>
            <a:xfrm>
              <a:off x="0" y="255270"/>
              <a:ext cx="23271432" cy="69850"/>
            </a:xfrm>
            <a:custGeom>
              <a:avLst/>
              <a:gdLst/>
              <a:ahLst/>
              <a:cxnLst/>
              <a:rect l="l" t="t" r="r" b="b"/>
              <a:pathLst>
                <a:path w="23271432" h="69850">
                  <a:moveTo>
                    <a:pt x="22980603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23271432" y="69850"/>
                  </a:lnTo>
                  <a:lnTo>
                    <a:pt x="23271432" y="0"/>
                  </a:lnTo>
                  <a:close/>
                </a:path>
              </a:pathLst>
            </a:custGeom>
            <a:solidFill>
              <a:srgbClr val="CBCBCB"/>
            </a:solidFill>
          </p:spPr>
        </p:sp>
      </p:grpSp>
      <p:grpSp>
        <p:nvGrpSpPr>
          <p:cNvPr id="157" name="Group 57"/>
          <p:cNvGrpSpPr/>
          <p:nvPr>
            <p:custDataLst>
              <p:tags r:id="rId31"/>
            </p:custDataLst>
          </p:nvPr>
        </p:nvGrpSpPr>
        <p:grpSpPr>
          <a:xfrm rot="0">
            <a:off x="558897" y="2925006"/>
            <a:ext cx="2637237" cy="227308"/>
            <a:chOff x="0" y="0"/>
            <a:chExt cx="3516316" cy="303078"/>
          </a:xfrm>
        </p:grpSpPr>
        <p:sp>
          <p:nvSpPr>
            <p:cNvPr id="158" name="TextBox 59"/>
            <p:cNvSpPr txBox="1"/>
            <p:nvPr>
              <p:custDataLst>
                <p:tags r:id="rId32"/>
              </p:custDataLst>
            </p:nvPr>
          </p:nvSpPr>
          <p:spPr>
            <a:xfrm>
              <a:off x="502730" y="0"/>
              <a:ext cx="3013586" cy="2438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Artist Management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159" name="Group 60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160" name="Freeform 61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161" name="Freeform 62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62" name="Group 63"/>
          <p:cNvGrpSpPr/>
          <p:nvPr>
            <p:custDataLst>
              <p:tags r:id="rId33"/>
            </p:custDataLst>
          </p:nvPr>
        </p:nvGrpSpPr>
        <p:grpSpPr>
          <a:xfrm rot="0">
            <a:off x="553182" y="3438372"/>
            <a:ext cx="2642870" cy="227308"/>
            <a:chOff x="0" y="0"/>
            <a:chExt cx="3523827" cy="303078"/>
          </a:xfrm>
        </p:grpSpPr>
        <p:sp>
          <p:nvSpPr>
            <p:cNvPr id="163" name="TextBox 65"/>
            <p:cNvSpPr txBox="1"/>
            <p:nvPr>
              <p:custDataLst>
                <p:tags r:id="rId34"/>
              </p:custDataLst>
            </p:nvPr>
          </p:nvSpPr>
          <p:spPr>
            <a:xfrm>
              <a:off x="502920" y="0"/>
              <a:ext cx="3020907" cy="24384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Music Content Management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164" name="Group 66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165" name="Freeform 67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166" name="Freeform 68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67" name="Group 63"/>
          <p:cNvGrpSpPr/>
          <p:nvPr>
            <p:custDataLst>
              <p:tags r:id="rId35"/>
            </p:custDataLst>
          </p:nvPr>
        </p:nvGrpSpPr>
        <p:grpSpPr>
          <a:xfrm rot="0">
            <a:off x="561437" y="3832707"/>
            <a:ext cx="2499713" cy="227308"/>
            <a:chOff x="0" y="0"/>
            <a:chExt cx="3332951" cy="303078"/>
          </a:xfrm>
        </p:grpSpPr>
        <p:sp>
          <p:nvSpPr>
            <p:cNvPr id="168" name="TextBox 65"/>
            <p:cNvSpPr txBox="1"/>
            <p:nvPr>
              <p:custDataLst>
                <p:tags r:id="rId36"/>
              </p:custDataLst>
            </p:nvPr>
          </p:nvSpPr>
          <p:spPr>
            <a:xfrm>
              <a:off x="502730" y="0"/>
              <a:ext cx="2830221" cy="243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Subscription Management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169" name="Group 66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170" name="Freeform 67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171" name="Freeform 68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72" name="Group 57"/>
          <p:cNvGrpSpPr/>
          <p:nvPr>
            <p:custDataLst>
              <p:tags r:id="rId37"/>
            </p:custDataLst>
          </p:nvPr>
        </p:nvGrpSpPr>
        <p:grpSpPr>
          <a:xfrm rot="0">
            <a:off x="4641312" y="4236916"/>
            <a:ext cx="2637237" cy="227308"/>
            <a:chOff x="0" y="0"/>
            <a:chExt cx="3516316" cy="303078"/>
          </a:xfrm>
        </p:grpSpPr>
        <p:sp>
          <p:nvSpPr>
            <p:cNvPr id="173" name="TextBox 59"/>
            <p:cNvSpPr txBox="1"/>
            <p:nvPr>
              <p:custDataLst>
                <p:tags r:id="rId38"/>
              </p:custDataLst>
            </p:nvPr>
          </p:nvSpPr>
          <p:spPr>
            <a:xfrm>
              <a:off x="502730" y="0"/>
              <a:ext cx="3013586" cy="243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Get Advertising 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174" name="Group 60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175" name="Freeform 61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176" name="Freeform 62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77" name="Group 63"/>
          <p:cNvGrpSpPr/>
          <p:nvPr>
            <p:custDataLst>
              <p:tags r:id="rId39"/>
            </p:custDataLst>
          </p:nvPr>
        </p:nvGrpSpPr>
        <p:grpSpPr>
          <a:xfrm rot="0">
            <a:off x="4635597" y="4750282"/>
            <a:ext cx="2499713" cy="227308"/>
            <a:chOff x="0" y="0"/>
            <a:chExt cx="3332951" cy="303078"/>
          </a:xfrm>
        </p:grpSpPr>
        <p:sp>
          <p:nvSpPr>
            <p:cNvPr id="178" name="TextBox 65"/>
            <p:cNvSpPr txBox="1"/>
            <p:nvPr>
              <p:custDataLst>
                <p:tags r:id="rId40"/>
              </p:custDataLst>
            </p:nvPr>
          </p:nvSpPr>
          <p:spPr>
            <a:xfrm>
              <a:off x="502730" y="0"/>
              <a:ext cx="2830221" cy="243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History &amp; Statistics 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179" name="Group 66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180" name="Freeform 67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181" name="Freeform 68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82" name="Group 63"/>
          <p:cNvGrpSpPr/>
          <p:nvPr>
            <p:custDataLst>
              <p:tags r:id="rId41"/>
            </p:custDataLst>
          </p:nvPr>
        </p:nvGrpSpPr>
        <p:grpSpPr>
          <a:xfrm rot="0">
            <a:off x="4643852" y="5144617"/>
            <a:ext cx="2499713" cy="227308"/>
            <a:chOff x="0" y="0"/>
            <a:chExt cx="3332951" cy="303078"/>
          </a:xfrm>
        </p:grpSpPr>
        <p:sp>
          <p:nvSpPr>
            <p:cNvPr id="183" name="TextBox 65"/>
            <p:cNvSpPr txBox="1"/>
            <p:nvPr>
              <p:custDataLst>
                <p:tags r:id="rId42"/>
              </p:custDataLst>
            </p:nvPr>
          </p:nvSpPr>
          <p:spPr>
            <a:xfrm>
              <a:off x="502730" y="0"/>
              <a:ext cx="2830221" cy="243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Payment Subscription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184" name="Group 66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185" name="Freeform 67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186" name="Freeform 68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87" name="Group 63"/>
          <p:cNvGrpSpPr/>
          <p:nvPr>
            <p:custDataLst>
              <p:tags r:id="rId43"/>
            </p:custDataLst>
          </p:nvPr>
        </p:nvGrpSpPr>
        <p:grpSpPr>
          <a:xfrm rot="0">
            <a:off x="4655917" y="5501487"/>
            <a:ext cx="2499713" cy="227308"/>
            <a:chOff x="0" y="0"/>
            <a:chExt cx="3332951" cy="303078"/>
          </a:xfrm>
        </p:grpSpPr>
        <p:sp>
          <p:nvSpPr>
            <p:cNvPr id="188" name="TextBox 65"/>
            <p:cNvSpPr txBox="1"/>
            <p:nvPr>
              <p:custDataLst>
                <p:tags r:id="rId44"/>
              </p:custDataLst>
            </p:nvPr>
          </p:nvSpPr>
          <p:spPr>
            <a:xfrm>
              <a:off x="502730" y="0"/>
              <a:ext cx="2830221" cy="2438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30"/>
                </a:lnSpc>
              </a:pPr>
              <a:r>
                <a:rPr lang="en-US" altLang="en-GB" sz="1300" b="1">
                  <a:solidFill>
                    <a:srgbClr val="231F20"/>
                  </a:solidFill>
                  <a:latin typeface="Play" panose="00000500000000000000" charset="0"/>
                  <a:ea typeface="Garet Bold"/>
                  <a:cs typeface="Play" panose="00000500000000000000" charset="0"/>
                  <a:sym typeface="Garet Bold"/>
                </a:rPr>
                <a:t>Register Artist</a:t>
              </a:r>
              <a:endParaRPr lang="en-US" altLang="en-GB" sz="1300" b="1">
                <a:solidFill>
                  <a:srgbClr val="231F20"/>
                </a:solidFill>
                <a:latin typeface="Play" panose="00000500000000000000" charset="0"/>
                <a:ea typeface="Garet Bold"/>
                <a:cs typeface="Play" panose="00000500000000000000" charset="0"/>
                <a:sym typeface="Garet Bold"/>
              </a:endParaRPr>
            </a:p>
          </p:txBody>
        </p:sp>
        <p:grpSp>
          <p:nvGrpSpPr>
            <p:cNvPr id="189" name="Group 66"/>
            <p:cNvGrpSpPr>
              <a:grpSpLocks noChangeAspect="1"/>
            </p:cNvGrpSpPr>
            <p:nvPr/>
          </p:nvGrpSpPr>
          <p:grpSpPr>
            <a:xfrm rot="0">
              <a:off x="0" y="12700"/>
              <a:ext cx="296531" cy="290378"/>
              <a:chOff x="-72390" y="7620"/>
              <a:chExt cx="6487160" cy="6352540"/>
            </a:xfrm>
          </p:grpSpPr>
          <p:sp>
            <p:nvSpPr>
              <p:cNvPr id="190" name="Freeform 67"/>
              <p:cNvSpPr/>
              <p:nvPr/>
            </p:nvSpPr>
            <p:spPr>
              <a:xfrm>
                <a:off x="-3836" y="7620"/>
                <a:ext cx="6350053" cy="6352540"/>
              </a:xfrm>
              <a:custGeom>
                <a:avLst/>
                <a:gdLst/>
                <a:ahLst/>
                <a:cxnLst/>
                <a:rect l="l" t="t" r="r" b="b"/>
                <a:pathLst>
                  <a:path w="6350053" h="6352540">
                    <a:moveTo>
                      <a:pt x="6253506" y="3176270"/>
                    </a:moveTo>
                    <a:cubicBezTo>
                      <a:pt x="6253506" y="2844800"/>
                      <a:pt x="6418606" y="2493010"/>
                      <a:pt x="6317006" y="2194560"/>
                    </a:cubicBezTo>
                    <a:cubicBezTo>
                      <a:pt x="6212866" y="1884680"/>
                      <a:pt x="5859806" y="1694180"/>
                      <a:pt x="5665496" y="1436370"/>
                    </a:cubicBezTo>
                    <a:cubicBezTo>
                      <a:pt x="5468646" y="1176020"/>
                      <a:pt x="5387366" y="796290"/>
                      <a:pt x="5116856" y="607060"/>
                    </a:cubicBezTo>
                    <a:cubicBezTo>
                      <a:pt x="4848886" y="420370"/>
                      <a:pt x="4448836" y="462280"/>
                      <a:pt x="4127526" y="360680"/>
                    </a:cubicBezTo>
                    <a:cubicBezTo>
                      <a:pt x="3816376" y="264160"/>
                      <a:pt x="3520466" y="0"/>
                      <a:pt x="3176296" y="0"/>
                    </a:cubicBezTo>
                    <a:cubicBezTo>
                      <a:pt x="2832126" y="0"/>
                      <a:pt x="2534946" y="262890"/>
                      <a:pt x="2225066" y="360680"/>
                    </a:cubicBezTo>
                    <a:cubicBezTo>
                      <a:pt x="1903756" y="461010"/>
                      <a:pt x="1502436" y="419100"/>
                      <a:pt x="1234466" y="607060"/>
                    </a:cubicBezTo>
                    <a:cubicBezTo>
                      <a:pt x="963956" y="796290"/>
                      <a:pt x="882676" y="1176020"/>
                      <a:pt x="685826" y="1436370"/>
                    </a:cubicBezTo>
                    <a:cubicBezTo>
                      <a:pt x="490246" y="1694180"/>
                      <a:pt x="138456" y="1884680"/>
                      <a:pt x="33046" y="2194560"/>
                    </a:cubicBezTo>
                    <a:cubicBezTo>
                      <a:pt x="-67284" y="2493010"/>
                      <a:pt x="96546" y="2844800"/>
                      <a:pt x="96546" y="3176270"/>
                    </a:cubicBezTo>
                    <a:cubicBezTo>
                      <a:pt x="96546" y="3507740"/>
                      <a:pt x="-68554" y="3859530"/>
                      <a:pt x="33046" y="4157980"/>
                    </a:cubicBezTo>
                    <a:cubicBezTo>
                      <a:pt x="137186" y="4467860"/>
                      <a:pt x="490246" y="4658360"/>
                      <a:pt x="684556" y="4916170"/>
                    </a:cubicBezTo>
                    <a:cubicBezTo>
                      <a:pt x="881406" y="5176520"/>
                      <a:pt x="962686" y="5556250"/>
                      <a:pt x="1233196" y="5745480"/>
                    </a:cubicBezTo>
                    <a:cubicBezTo>
                      <a:pt x="1501166" y="5933440"/>
                      <a:pt x="1901216" y="5891530"/>
                      <a:pt x="2223796" y="5991860"/>
                    </a:cubicBezTo>
                    <a:cubicBezTo>
                      <a:pt x="2534946" y="6088380"/>
                      <a:pt x="2830856" y="6352540"/>
                      <a:pt x="3175026" y="6352540"/>
                    </a:cubicBezTo>
                    <a:cubicBezTo>
                      <a:pt x="3519196" y="6352540"/>
                      <a:pt x="3816376" y="6089650"/>
                      <a:pt x="4126256" y="5991860"/>
                    </a:cubicBezTo>
                    <a:cubicBezTo>
                      <a:pt x="4447566" y="5891530"/>
                      <a:pt x="4848886" y="5933440"/>
                      <a:pt x="5116856" y="5745480"/>
                    </a:cubicBezTo>
                    <a:cubicBezTo>
                      <a:pt x="5387366" y="5556250"/>
                      <a:pt x="5468646" y="5176520"/>
                      <a:pt x="5665496" y="4916170"/>
                    </a:cubicBezTo>
                    <a:cubicBezTo>
                      <a:pt x="5861076" y="4658360"/>
                      <a:pt x="6212866" y="4467860"/>
                      <a:pt x="6317006" y="4157980"/>
                    </a:cubicBezTo>
                    <a:cubicBezTo>
                      <a:pt x="6418606" y="3858260"/>
                      <a:pt x="6253506" y="3506470"/>
                      <a:pt x="6253506" y="3176270"/>
                    </a:cubicBezTo>
                    <a:close/>
                  </a:path>
                </a:pathLst>
              </a:custGeom>
              <a:solidFill>
                <a:srgbClr val="333537"/>
              </a:solidFill>
            </p:spPr>
          </p:sp>
        </p:grpSp>
        <p:sp>
          <p:nvSpPr>
            <p:cNvPr id="191" name="Freeform 68"/>
            <p:cNvSpPr/>
            <p:nvPr/>
          </p:nvSpPr>
          <p:spPr>
            <a:xfrm>
              <a:off x="64581" y="93376"/>
              <a:ext cx="167369" cy="129026"/>
            </a:xfrm>
            <a:custGeom>
              <a:avLst/>
              <a:gdLst/>
              <a:ahLst/>
              <a:cxnLst/>
              <a:rect l="l" t="t" r="r" b="b"/>
              <a:pathLst>
                <a:path w="167369" h="129026">
                  <a:moveTo>
                    <a:pt x="0" y="0"/>
                  </a:moveTo>
                  <a:lnTo>
                    <a:pt x="167369" y="0"/>
                  </a:lnTo>
                  <a:lnTo>
                    <a:pt x="167369" y="129026"/>
                  </a:lnTo>
                  <a:lnTo>
                    <a:pt x="0" y="1290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 txBox="1"/>
          <p:nvPr>
            <p:ph type="title"/>
          </p:nvPr>
        </p:nvSpPr>
        <p:spPr>
          <a:xfrm>
            <a:off x="838200" y="72347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 panose="00000500000000000000"/>
              <a:buNone/>
            </a:pPr>
            <a:r>
              <a:rPr lang="en-US" altLang="en-GB"/>
              <a:t>System Architecture</a:t>
            </a:r>
            <a:endParaRPr lang="en-US" altLang="en-GB"/>
          </a:p>
        </p:txBody>
      </p:sp>
      <p:sp>
        <p:nvSpPr>
          <p:cNvPr id="189" name="Google Shape;189;p7"/>
          <p:cNvSpPr txBox="1"/>
          <p:nvPr>
            <p:ph type="body" idx="2"/>
          </p:nvPr>
        </p:nvSpPr>
        <p:spPr>
          <a:xfrm>
            <a:off x="6172200" y="1842770"/>
            <a:ext cx="5506085" cy="401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</a:pPr>
            <a:r>
              <a:rPr lang="en-US" altLang="en-GB" sz="1800"/>
              <a:t>The system is decoupled into independent, fine-grained services rather than a single, bulky Monolithic unit.</a:t>
            </a:r>
            <a:endParaRPr lang="en-US" altLang="en-GB"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</a:pPr>
            <a:r>
              <a:rPr lang="en-US" altLang="en-GB" sz="1800"/>
              <a:t>Each service can be scaled horizontally and deployed independently based on its specific resource demands.</a:t>
            </a:r>
            <a:endParaRPr lang="en-US" altLang="en-GB"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</a:pPr>
            <a:r>
              <a:rPr lang="en-US" altLang="en-GB" sz="1800"/>
              <a:t>A failure in one module does not bring down the entire streaming platform, ensuring high system availability.</a:t>
            </a:r>
            <a:endParaRPr lang="en-US" altLang="en-GB" sz="18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Char char="•"/>
            </a:pPr>
            <a:r>
              <a:rPr lang="en-US" altLang="en-GB" sz="1800"/>
              <a:t>Allows using the best tool for the job.</a:t>
            </a:r>
            <a:endParaRPr lang="en-US" altLang="en-GB" sz="1800"/>
          </a:p>
          <a:p>
            <a:pPr marL="2857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Font typeface="Wingdings" panose="05000000000000000000" charset="0"/>
              <a:buChar char="Ø"/>
            </a:pPr>
            <a:r>
              <a:rPr lang="en-US" altLang="en-GB" sz="1800"/>
              <a:t>Our Microservices architecture leverages the strengths of both Spring Boot (Backend Core) and Python(Recommendation) to optimize system performance and specialized processing.</a:t>
            </a:r>
            <a:endParaRPr lang="en-US" altLang="en-GB" sz="1800"/>
          </a:p>
          <a:p>
            <a:pPr marL="228600" lvl="0" indent="-114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1800"/>
              <a:buNone/>
            </a:pPr>
            <a:endParaRPr sz="1800"/>
          </a:p>
        </p:txBody>
      </p:sp>
      <p:pic>
        <p:nvPicPr>
          <p:cNvPr id="266" name="Picture 266" descr="213f3c3d-49f0-4a34-b707-aef6b43d31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008" y="2060575"/>
            <a:ext cx="5269865" cy="25133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 txBox="1"/>
          <p:nvPr>
            <p:ph type="title"/>
          </p:nvPr>
        </p:nvSpPr>
        <p:spPr>
          <a:xfrm>
            <a:off x="983615" y="908685"/>
            <a:ext cx="10493375" cy="935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 panose="00000500000000000000"/>
              <a:buNone/>
            </a:pPr>
            <a:r>
              <a:rPr lang="en-US" altLang="en-GB"/>
              <a:t>Recomendation System</a:t>
            </a:r>
            <a:endParaRPr lang="en-US" alt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1772920"/>
            <a:ext cx="1080135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Recomendation System (cont)</a:t>
            </a:r>
            <a:endParaRPr lang="en-GB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25" y="1700530"/>
            <a:ext cx="11189970" cy="37668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Recomendation System (cont)</a:t>
            </a:r>
            <a:endParaRPr lang="en-GB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" y="1604645"/>
            <a:ext cx="11283315" cy="48602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05" y="1484630"/>
            <a:ext cx="11248390" cy="5100320"/>
          </a:xfrm>
          <a:prstGeom prst="rect">
            <a:avLst/>
          </a:prstGeom>
        </p:spPr>
      </p:pic>
      <p:sp>
        <p:nvSpPr>
          <p:cNvPr id="5" name="Title 4"/>
          <p:cNvSpPr/>
          <p:nvPr>
            <p:ph type="title"/>
          </p:nvPr>
        </p:nvSpPr>
        <p:spPr>
          <a:xfrm>
            <a:off x="695325" y="764403"/>
            <a:ext cx="10515600" cy="862785"/>
          </a:xfrm>
        </p:spPr>
        <p:txBody>
          <a:bodyPr/>
          <a:p>
            <a:r>
              <a:rPr lang="en-US" altLang="en-GB">
                <a:sym typeface="+mn-ea"/>
              </a:rPr>
              <a:t>Recomendation System (cont)</a:t>
            </a:r>
            <a:endParaRPr lang="en-GB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485" y="1700530"/>
            <a:ext cx="11377295" cy="4472305"/>
          </a:xfrm>
          <a:prstGeom prst="rect">
            <a:avLst/>
          </a:prstGeom>
        </p:spPr>
      </p:pic>
      <p:sp>
        <p:nvSpPr>
          <p:cNvPr id="4" name="Title 3"/>
          <p:cNvSpPr/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Recomendation System (cont)</a:t>
            </a:r>
            <a:endParaRPr lang="en-GB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/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Recomendation System (cont)</a:t>
            </a:r>
            <a:endParaRPr lang="en-GB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1556385"/>
            <a:ext cx="11528425" cy="43897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/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Recomendation System (cont)</a:t>
            </a:r>
            <a:endParaRPr lang="en-GB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035" y="1555750"/>
            <a:ext cx="11334115" cy="49739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 txBox="1"/>
          <p:nvPr/>
        </p:nvSpPr>
        <p:spPr>
          <a:xfrm>
            <a:off x="2477857" y="1298384"/>
            <a:ext cx="6216199" cy="3970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6600"/>
              <a:buFont typeface="Arial" panose="020B0604020202020204"/>
              <a:buNone/>
            </a:pPr>
            <a:r>
              <a:rPr lang="en-US" sz="6600" b="0" i="0">
                <a:solidFill>
                  <a:srgbClr val="153898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Analysis &amp; Design</a:t>
            </a:r>
            <a:endParaRPr sz="6600" b="0" i="0">
              <a:solidFill>
                <a:srgbClr val="153898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367845" y="1246939"/>
            <a:ext cx="3318783" cy="23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15000"/>
              <a:buFont typeface="Bai Jamjuree" panose="00000500000000000000"/>
              <a:buNone/>
            </a:pPr>
            <a:r>
              <a:rPr lang="en-US" sz="15000" b="1">
                <a:solidFill>
                  <a:srgbClr val="153898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rPr>
              <a:t>2.</a:t>
            </a:r>
            <a:endParaRPr sz="15000" b="1">
              <a:solidFill>
                <a:srgbClr val="153898"/>
              </a:solidFill>
              <a:latin typeface="Bai Jamjuree" panose="00000500000000000000"/>
              <a:ea typeface="Bai Jamjuree" panose="00000500000000000000"/>
              <a:cs typeface="Bai Jamjuree" panose="00000500000000000000"/>
              <a:sym typeface="Bai Jamjuree" panose="0000050000000000000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 txBox="1"/>
          <p:nvPr>
            <p:ph type="title"/>
          </p:nvPr>
        </p:nvSpPr>
        <p:spPr>
          <a:xfrm>
            <a:off x="384664" y="2961503"/>
            <a:ext cx="4154714" cy="862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ct val="100000"/>
              <a:buFont typeface="Bai Jamjuree" panose="00000500000000000000"/>
              <a:buNone/>
            </a:pPr>
            <a:r>
              <a:rPr lang="en-US"/>
              <a:t>General Use Case Diagram</a:t>
            </a:r>
            <a:endParaRPr lang="en-US"/>
          </a:p>
        </p:txBody>
      </p:sp>
      <p:pic>
        <p:nvPicPr>
          <p:cNvPr id="214" name="Google Shape;214;p11" descr="C:/Users/domin/Downloads/UseCase_KLTN (1).pngUseCase_KLTN (1)"/>
          <p:cNvPicPr preferRelativeResize="0"/>
          <p:nvPr/>
        </p:nvPicPr>
        <p:blipFill rotWithShape="1">
          <a:blip r:embed="rId1"/>
          <a:srcRect t="-1567" b="-319"/>
          <a:stretch>
            <a:fillRect/>
          </a:stretch>
        </p:blipFill>
        <p:spPr>
          <a:xfrm>
            <a:off x="4176395" y="735965"/>
            <a:ext cx="7493000" cy="58527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 txBox="1"/>
          <p:nvPr>
            <p:ph type="title"/>
          </p:nvPr>
        </p:nvSpPr>
        <p:spPr>
          <a:xfrm>
            <a:off x="707571" y="2264817"/>
            <a:ext cx="3033961" cy="2205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 panose="00000500000000000000"/>
              <a:buNone/>
            </a:pPr>
            <a:r>
              <a:rPr lang="en-US"/>
              <a:t>Physical Data Model</a:t>
            </a:r>
            <a:endParaRPr lang="en-US"/>
          </a:p>
        </p:txBody>
      </p:sp>
      <p:pic>
        <p:nvPicPr>
          <p:cNvPr id="305" name="Picture 305" descr="diagram-export-5-8-2026-11_42_16-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4235" y="810260"/>
            <a:ext cx="8228330" cy="57232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 txBox="1"/>
          <p:nvPr>
            <p:ph type="title"/>
          </p:nvPr>
        </p:nvSpPr>
        <p:spPr>
          <a:xfrm>
            <a:off x="966652" y="2207623"/>
            <a:ext cx="3460206" cy="2045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ct val="100000"/>
              <a:buFont typeface="Bai Jamjuree" panose="00000500000000000000"/>
              <a:buNone/>
            </a:pPr>
            <a:r>
              <a:rPr lang="en-US"/>
              <a:t>Sequence Diagram: Streamming Music</a:t>
            </a:r>
            <a:endParaRPr lang="en-US"/>
          </a:p>
        </p:txBody>
      </p:sp>
      <p:pic>
        <p:nvPicPr>
          <p:cNvPr id="296" name="Picture 296" descr="phatNha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7665" y="819785"/>
            <a:ext cx="5959475" cy="57283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 txBox="1"/>
          <p:nvPr>
            <p:ph type="title"/>
          </p:nvPr>
        </p:nvSpPr>
        <p:spPr>
          <a:xfrm>
            <a:off x="506095" y="2378075"/>
            <a:ext cx="3872865" cy="2337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 panose="00000500000000000000"/>
              <a:buNone/>
            </a:pPr>
            <a:r>
              <a:rPr lang="en-US">
                <a:sym typeface="+mn-ea"/>
              </a:rPr>
              <a:t>Sequence Diagram: A</a:t>
            </a:r>
            <a:r>
              <a:rPr lang="en-US" altLang="en-GB"/>
              <a:t>dvertisement</a:t>
            </a:r>
            <a:endParaRPr lang="en-US" altLang="en-GB"/>
          </a:p>
        </p:txBody>
      </p:sp>
      <p:pic>
        <p:nvPicPr>
          <p:cNvPr id="295" name="Picture 295" descr="phanPhoiAD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4110" y="764540"/>
            <a:ext cx="5393055" cy="58146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5"/>
          <p:cNvSpPr txBox="1"/>
          <p:nvPr>
            <p:ph type="title"/>
          </p:nvPr>
        </p:nvSpPr>
        <p:spPr>
          <a:xfrm>
            <a:off x="479425" y="2381250"/>
            <a:ext cx="4720590" cy="2510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 panose="00000500000000000000"/>
              <a:buNone/>
            </a:pPr>
            <a:r>
              <a:rPr lang="en-US">
                <a:sym typeface="+mn-ea"/>
              </a:rPr>
              <a:t>Sequence Diagram: Recommendation</a:t>
            </a:r>
            <a:endParaRPr lang="en-US"/>
          </a:p>
        </p:txBody>
      </p:sp>
      <p:pic>
        <p:nvPicPr>
          <p:cNvPr id="293" name="Picture 293" descr="deXuatNha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3475" y="764540"/>
            <a:ext cx="6525895" cy="58331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"/>
          <p:cNvSpPr txBox="1"/>
          <p:nvPr/>
        </p:nvSpPr>
        <p:spPr>
          <a:xfrm>
            <a:off x="2543173" y="1246939"/>
            <a:ext cx="4706714" cy="3970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6600"/>
              <a:buFont typeface="Arial" panose="020B0604020202020204"/>
              <a:buNone/>
            </a:pPr>
            <a:r>
              <a:rPr lang="en-US" sz="6600" b="0" i="0">
                <a:solidFill>
                  <a:srgbClr val="153898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Demo</a:t>
            </a:r>
            <a:endParaRPr sz="6600" b="0" i="0">
              <a:solidFill>
                <a:srgbClr val="153898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sp>
        <p:nvSpPr>
          <p:cNvPr id="247" name="Google Shape;247;p16"/>
          <p:cNvSpPr txBox="1"/>
          <p:nvPr/>
        </p:nvSpPr>
        <p:spPr>
          <a:xfrm>
            <a:off x="367845" y="1246939"/>
            <a:ext cx="3318783" cy="23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15000"/>
              <a:buFont typeface="Bai Jamjuree" panose="00000500000000000000"/>
              <a:buNone/>
            </a:pPr>
            <a:r>
              <a:rPr lang="en-US" sz="15000" b="1">
                <a:solidFill>
                  <a:srgbClr val="153898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rPr>
              <a:t>3.</a:t>
            </a:r>
            <a:endParaRPr sz="15000" b="1">
              <a:solidFill>
                <a:srgbClr val="153898"/>
              </a:solidFill>
              <a:latin typeface="Bai Jamjuree" panose="00000500000000000000"/>
              <a:ea typeface="Bai Jamjuree" panose="00000500000000000000"/>
              <a:cs typeface="Bai Jamjuree" panose="00000500000000000000"/>
              <a:sym typeface="Bai Jamjuree" panose="0000050000000000000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7"/>
          <p:cNvSpPr txBox="1"/>
          <p:nvPr/>
        </p:nvSpPr>
        <p:spPr>
          <a:xfrm>
            <a:off x="2177412" y="1592123"/>
            <a:ext cx="9566097" cy="3970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5400"/>
              <a:buFont typeface="Arial" panose="020B0604020202020204"/>
              <a:buNone/>
            </a:pPr>
            <a:r>
              <a:rPr lang="en-US" sz="5400" b="0" i="0">
                <a:solidFill>
                  <a:srgbClr val="153898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rPr>
              <a:t>Conclusion, Limitations &amp; Future Development</a:t>
            </a:r>
            <a:endParaRPr sz="5400" b="0" i="0">
              <a:solidFill>
                <a:srgbClr val="153898"/>
              </a:solidFill>
              <a:latin typeface="Play" panose="00000500000000000000"/>
              <a:ea typeface="Play" panose="00000500000000000000"/>
              <a:cs typeface="Play" panose="00000500000000000000"/>
              <a:sym typeface="Play" panose="00000500000000000000"/>
            </a:endParaRPr>
          </a:p>
        </p:txBody>
      </p:sp>
      <p:sp>
        <p:nvSpPr>
          <p:cNvPr id="253" name="Google Shape;253;p17"/>
          <p:cNvSpPr txBox="1"/>
          <p:nvPr/>
        </p:nvSpPr>
        <p:spPr>
          <a:xfrm>
            <a:off x="367845" y="1246939"/>
            <a:ext cx="3318783" cy="233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15000"/>
              <a:buFont typeface="Bai Jamjuree" panose="00000500000000000000"/>
              <a:buNone/>
            </a:pPr>
            <a:r>
              <a:rPr lang="en-US" sz="15000" b="1">
                <a:solidFill>
                  <a:srgbClr val="153898"/>
                </a:solidFill>
                <a:latin typeface="Bai Jamjuree" panose="00000500000000000000"/>
                <a:ea typeface="Bai Jamjuree" panose="00000500000000000000"/>
                <a:cs typeface="Bai Jamjuree" panose="00000500000000000000"/>
                <a:sym typeface="Bai Jamjuree" panose="00000500000000000000"/>
              </a:rPr>
              <a:t>4.</a:t>
            </a:r>
            <a:endParaRPr sz="15000" b="1">
              <a:solidFill>
                <a:srgbClr val="153898"/>
              </a:solidFill>
              <a:latin typeface="Bai Jamjuree" panose="00000500000000000000"/>
              <a:ea typeface="Bai Jamjuree" panose="00000500000000000000"/>
              <a:cs typeface="Bai Jamjuree" panose="00000500000000000000"/>
              <a:sym typeface="Bai Jamjuree" panose="0000050000000000000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"/>
          <p:cNvSpPr txBox="1"/>
          <p:nvPr>
            <p:ph type="title"/>
          </p:nvPr>
        </p:nvSpPr>
        <p:spPr>
          <a:xfrm>
            <a:off x="839470" y="40470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 panose="00000500000000000000"/>
              <a:buNone/>
            </a:pPr>
            <a:r>
              <a:rPr lang="en-US"/>
              <a:t>Limitations</a:t>
            </a:r>
            <a:endParaRPr lang="en-US"/>
          </a:p>
        </p:txBody>
      </p:sp>
      <p:sp>
        <p:nvSpPr>
          <p:cNvPr id="259" name="Google Shape;259;p18"/>
          <p:cNvSpPr txBox="1"/>
          <p:nvPr>
            <p:ph type="body" idx="1"/>
          </p:nvPr>
        </p:nvSpPr>
        <p:spPr>
          <a:xfrm>
            <a:off x="838200" y="1464310"/>
            <a:ext cx="10800715" cy="4396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2800"/>
              <a:buChar char="•"/>
            </a:pPr>
            <a:r>
              <a:rPr lang="en-US" altLang="en-GB"/>
              <a:t>System analysis and design still face feasibility challenges, leading to issues in business workflows</a:t>
            </a:r>
            <a:r>
              <a:rPr lang="en-US"/>
              <a:t>.</a:t>
            </a:r>
            <a:endParaRPr lang="en-US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2800"/>
              <a:buChar char="•"/>
            </a:pPr>
            <a:r>
              <a:rPr lang="en-US" altLang="en-GB"/>
              <a:t>The music recommendation system requires a large amount of user data to ensure accurate and personalized suggestions.</a:t>
            </a:r>
            <a:endParaRPr lang="en-US" altLang="en-GB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2800"/>
              <a:buChar char="•"/>
            </a:pPr>
            <a:r>
              <a:rPr lang="en-US" altLang="en-GB"/>
              <a:t>Handling offline music playback remains a challenge.</a:t>
            </a:r>
            <a:endParaRPr lang="en-US" altLang="en-GB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2800"/>
              <a:buChar char="•"/>
            </a:pPr>
            <a:r>
              <a:rPr lang="en-US" altLang="en-GB"/>
              <a:t>Using a Microservices architecture increases development and deployment complexity, especially in service communication, data synchronization, request management, and error handling.</a:t>
            </a:r>
            <a:endParaRPr lang="en-US" altLang="en-GB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2800"/>
              <a:buChar char="•"/>
            </a:pPr>
            <a:r>
              <a:rPr lang="en-US" altLang="en-GB"/>
              <a:t>Due to copyright restrictions and API limitations from platforms like Spotify and SoundCloud, the system currently uses Jamendo APIs. However, its library mainly contains international and royalty-free music, which does not fully meet the Vietnamese market demand.</a:t>
            </a:r>
            <a:endParaRPr lang="en-US" alt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9"/>
          <p:cNvSpPr txBox="1"/>
          <p:nvPr>
            <p:ph type="title"/>
          </p:nvPr>
        </p:nvSpPr>
        <p:spPr>
          <a:xfrm>
            <a:off x="838200" y="40470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4400"/>
              <a:buFont typeface="Bai Jamjuree" panose="00000500000000000000"/>
              <a:buNone/>
            </a:pPr>
            <a:r>
              <a:rPr lang="en-US"/>
              <a:t>Future development </a:t>
            </a:r>
            <a:endParaRPr lang="en-US"/>
          </a:p>
        </p:txBody>
      </p:sp>
      <p:sp>
        <p:nvSpPr>
          <p:cNvPr id="265" name="Google Shape;265;p19"/>
          <p:cNvSpPr txBox="1"/>
          <p:nvPr>
            <p:ph type="body" idx="1"/>
          </p:nvPr>
        </p:nvSpPr>
        <p:spPr>
          <a:xfrm>
            <a:off x="838200" y="1366520"/>
            <a:ext cx="11245215" cy="444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3898"/>
              </a:buClr>
              <a:buSzPts val="2400"/>
              <a:buChar char="•"/>
            </a:pPr>
            <a:r>
              <a:rPr lang="en-US" altLang="en-GB" sz="2500"/>
              <a:t>Integrate AI-powered music recommendations based on user behavior and listening preferences to provide more personalized playlists and song suggestions.</a:t>
            </a:r>
            <a:endParaRPr lang="en-US" altLang="en-GB" sz="25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2400"/>
              <a:buChar char="•"/>
            </a:pPr>
            <a:r>
              <a:rPr lang="en-US" altLang="en-GB" sz="2500"/>
              <a:t>Strengthen security and optimize system performance to ensure stable operation and data safety as the number of users grows.</a:t>
            </a:r>
            <a:endParaRPr lang="en-US" altLang="en-GB" sz="25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2400"/>
              <a:buChar char="•"/>
            </a:pPr>
            <a:r>
              <a:rPr lang="en-US" altLang="en-GB" sz="2500"/>
              <a:t>Support independent artists by allowing them to upload, manage, and promote their music on the platform.</a:t>
            </a:r>
            <a:endParaRPr lang="en-US" altLang="en-GB" sz="25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2400"/>
              <a:buChar char="•"/>
            </a:pPr>
            <a:r>
              <a:rPr lang="en-US" altLang="en-GB" sz="2500"/>
              <a:t>Integrate an intelligent chatbot to help users search for songs and receive music recommendations based on mood, genre, or context.</a:t>
            </a:r>
            <a:endParaRPr lang="en-US" altLang="en-GB" sz="25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3898"/>
              </a:buClr>
              <a:buSzPts val="2400"/>
              <a:buChar char="•"/>
            </a:pPr>
            <a:r>
              <a:rPr lang="en-US" altLang="en-GB" sz="2500"/>
              <a:t>Enhance the data analytics system to improve processing speed, optimize displayed content, and deliver a better user experience.</a:t>
            </a:r>
            <a:endParaRPr lang="en-US" altLang="en-GB" sz="2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"/>
          <p:cNvSpPr txBox="1"/>
          <p:nvPr>
            <p:ph type="title"/>
          </p:nvPr>
        </p:nvSpPr>
        <p:spPr>
          <a:xfrm>
            <a:off x="524692" y="1810164"/>
            <a:ext cx="7652658" cy="3297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Bai Jamjuree" panose="00000500000000000000"/>
              <a:buNone/>
            </a:pPr>
            <a:r>
              <a:rPr lang="en-US" sz="9600"/>
              <a:t>THANK YOU!</a:t>
            </a:r>
            <a:endParaRPr sz="9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2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3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4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5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6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7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8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9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10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11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12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13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14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15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16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17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18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19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20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21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22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23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24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25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26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27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28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29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30.xml><?xml version="1.0" encoding="utf-8"?>
<p:tagLst xmlns:p="http://schemas.openxmlformats.org/presentationml/2006/main">
  <p:tag name="KSO_WM_DIAGRAM_VIRTUALLY_FRAME" val="{&quot;height&quot;:369.9196062992126,&quot;left&quot;:32.3,&quot;top&quot;:82.6,&quot;width&quot;:898.15}"/>
</p:tagLst>
</file>

<file path=ppt/tags/tag31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32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33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34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35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36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37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38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39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40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41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42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43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44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45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46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47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48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49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50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51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52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53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54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55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56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57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58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59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60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61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62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63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64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65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66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67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68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69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ags/tag70.xml><?xml version="1.0" encoding="utf-8"?>
<p:tagLst xmlns:p="http://schemas.openxmlformats.org/presentationml/2006/main">
  <p:tag name="KSO_WM_DIAGRAM_VIRTUALLY_FRAME" val="{&quot;height&quot;:283.19891732283446,&quot;left&quot;:43.15763779527558,&quot;top&quot;:160.32047244094488,&quot;width&quot;:208.10645669291335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3786</Words>
  <Application>WPS Presentation</Application>
  <PresentationFormat/>
  <Paragraphs>165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0" baseType="lpstr">
      <vt:lpstr>Arial</vt:lpstr>
      <vt:lpstr>SimSun</vt:lpstr>
      <vt:lpstr>Wingdings</vt:lpstr>
      <vt:lpstr>Arial</vt:lpstr>
      <vt:lpstr>Bai Jamjuree</vt:lpstr>
      <vt:lpstr>Play</vt:lpstr>
      <vt:lpstr>Bai Jamjuree Medium</vt:lpstr>
      <vt:lpstr>Times New Roman</vt:lpstr>
      <vt:lpstr>Play</vt:lpstr>
      <vt:lpstr>Garet Bold</vt:lpstr>
      <vt:lpstr>Segoe Print</vt:lpstr>
      <vt:lpstr>Wingdings</vt:lpstr>
      <vt:lpstr>Microsoft YaHei</vt:lpstr>
      <vt:lpstr>Arial Unicode MS</vt:lpstr>
      <vt:lpstr>Office Theme</vt:lpstr>
      <vt:lpstr>PowerPoint 演示文稿</vt:lpstr>
      <vt:lpstr>Contents</vt:lpstr>
      <vt:lpstr>PowerPoint 演示文稿</vt:lpstr>
      <vt:lpstr>Reasons</vt:lpstr>
      <vt:lpstr>PowerPoint 演示文稿</vt:lpstr>
      <vt:lpstr>Key Features</vt:lpstr>
      <vt:lpstr>System Architecture</vt:lpstr>
      <vt:lpstr>Recomendation System</vt:lpstr>
      <vt:lpstr>Recomendation System (cont)</vt:lpstr>
      <vt:lpstr>Recomendation System (cont)</vt:lpstr>
      <vt:lpstr>Recomendation System (cont)</vt:lpstr>
      <vt:lpstr>Recomendation System (cont)</vt:lpstr>
      <vt:lpstr>Recomendation System (cont)</vt:lpstr>
      <vt:lpstr>Recomendation System (cont)</vt:lpstr>
      <vt:lpstr>PowerPoint 演示文稿</vt:lpstr>
      <vt:lpstr>General Use Case Diagram</vt:lpstr>
      <vt:lpstr>Physical Data Model</vt:lpstr>
      <vt:lpstr>Sequence Diagram: Streamming Music</vt:lpstr>
      <vt:lpstr>Sequence Diagram: Advertisement</vt:lpstr>
      <vt:lpstr>Sequence Diagram: Recommendation</vt:lpstr>
      <vt:lpstr>PowerPoint 演示文稿</vt:lpstr>
      <vt:lpstr>PowerPoint 演示文稿</vt:lpstr>
      <vt:lpstr>Limitations</vt:lpstr>
      <vt:lpstr>Future development 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Huỳnh Phú Vinh</dc:creator>
  <cp:lastModifiedBy>Hùng Minh</cp:lastModifiedBy>
  <cp:revision>26</cp:revision>
  <dcterms:created xsi:type="dcterms:W3CDTF">2026-05-12T05:44:00Z</dcterms:created>
  <dcterms:modified xsi:type="dcterms:W3CDTF">2026-05-14T09:13:48Z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0B1F153A9C9047C89385611CE0B5AB2C_13</vt:lpwstr>
  </property>
  <property fmtid="{D5CDD505-2E9C-101B-9397-08002B2CF9AE}" pid="3" name="KSOProductBuildVer">
    <vt:lpwstr>2057-12.2.0.23202</vt:lpwstr>
  </property>
</Properties>
</file>